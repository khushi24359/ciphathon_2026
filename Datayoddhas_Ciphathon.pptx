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8288000" cy="10287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4" roundtripDataSignature="AMtx7mjAWmGsJxZENJTtjNYPWz9Z4vLmp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2" d="100"/>
          <a:sy n="52" d="100"/>
        </p:scale>
        <p:origin x="850"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8" name="Google Shape;15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cbf6d6e0a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g3cbf6d6e0a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4"/>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4"/>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4"/>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4"/>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6"/>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6"/>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16"/>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7"/>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7"/>
          <p:cNvSpPr>
            <a:spLocks noGrp="1"/>
          </p:cNvSpPr>
          <p:nvPr>
            <p:ph type="pic" idx="2"/>
          </p:nvPr>
        </p:nvSpPr>
        <p:spPr>
          <a:xfrm>
            <a:off x="1792288" y="612775"/>
            <a:ext cx="5486400" cy="4114800"/>
          </a:xfrm>
          <a:prstGeom prst="rect">
            <a:avLst/>
          </a:prstGeom>
          <a:noFill/>
          <a:ln>
            <a:noFill/>
          </a:ln>
        </p:spPr>
      </p:sp>
      <p:sp>
        <p:nvSpPr>
          <p:cNvPr id="64" name="Google Shape;64;p17"/>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8"/>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9"/>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9"/>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0.png"/><Relationship Id="rId4" Type="http://schemas.openxmlformats.org/officeDocument/2006/relationships/image" Target="../media/image2.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hyperlink" Target="https://publicapi.dev/have-i-been-pwned-api" TargetMode="External"/><Relationship Id="rId13" Type="http://schemas.openxmlformats.org/officeDocument/2006/relationships/hyperlink" Target="https://js.cytoscape.org/" TargetMode="External"/><Relationship Id="rId18" Type="http://schemas.openxmlformats.org/officeDocument/2006/relationships/hyperlink" Target="https://github.com/cipher387/API-s-for-OSINT" TargetMode="External"/><Relationship Id="rId3" Type="http://schemas.openxmlformats.org/officeDocument/2006/relationships/image" Target="../media/image1.png"/><Relationship Id="rId21" Type="http://schemas.openxmlformats.org/officeDocument/2006/relationships/hyperlink" Target="https://xposedornot.com/" TargetMode="External"/><Relationship Id="rId7" Type="http://schemas.openxmlformats.org/officeDocument/2006/relationships/image" Target="../media/image6.png"/><Relationship Id="rId12" Type="http://schemas.openxmlformats.org/officeDocument/2006/relationships/hyperlink" Target="https://github.com/ibnaleem/gosearch" TargetMode="External"/><Relationship Id="rId17" Type="http://schemas.openxmlformats.org/officeDocument/2006/relationships/hyperlink" Target="https://github.com/jivoi/awesome-osint" TargetMode="External"/><Relationship Id="rId2" Type="http://schemas.openxmlformats.org/officeDocument/2006/relationships/notesSlide" Target="../notesSlides/notesSlide7.xml"/><Relationship Id="rId16" Type="http://schemas.openxmlformats.org/officeDocument/2006/relationships/hyperlink" Target="https://www.npmjs.com/package/cytoscape" TargetMode="External"/><Relationship Id="rId20" Type="http://schemas.openxmlformats.org/officeDocument/2006/relationships/hyperlink" Target="https://preciousvincentct.medium.com/github-osint-the-ultimate-reconnaissance-methodology-guide-e896ff162f63" TargetMode="Externa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hyperlink" Target="https://github.com/ContactAlexey/Sherlock-OSINT-Manual-2025" TargetMode="External"/><Relationship Id="rId5" Type="http://schemas.openxmlformats.org/officeDocument/2006/relationships/image" Target="../media/image3.png"/><Relationship Id="rId15" Type="http://schemas.openxmlformats.org/officeDocument/2006/relationships/hyperlink" Target="https://blog.js.cytoscape.org/2016/05/24/getting-started/" TargetMode="External"/><Relationship Id="rId10" Type="http://schemas.openxmlformats.org/officeDocument/2006/relationships/hyperlink" Target="https://bellingcat.gitbook.io/toolkit/more/all-tools/sherlock" TargetMode="External"/><Relationship Id="rId19" Type="http://schemas.openxmlformats.org/officeDocument/2006/relationships/hyperlink" Target="https://github.com/Hamed233/Digital-Footprint-OSINT-Tool" TargetMode="External"/><Relationship Id="rId4" Type="http://schemas.openxmlformats.org/officeDocument/2006/relationships/image" Target="../media/image2.png"/><Relationship Id="rId9" Type="http://schemas.openxmlformats.org/officeDocument/2006/relationships/hyperlink" Target="https://github.com/sherlock-project/sherlock" TargetMode="External"/><Relationship Id="rId14" Type="http://schemas.openxmlformats.org/officeDocument/2006/relationships/hyperlink" Target="https://github.com/cytoscape/cytoscape.j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4106D"/>
        </a:solidFill>
        <a:effectLst/>
      </p:bgPr>
    </p:bg>
    <p:spTree>
      <p:nvGrpSpPr>
        <p:cNvPr id="1" name="Shape 83"/>
        <p:cNvGrpSpPr/>
        <p:nvPr/>
      </p:nvGrpSpPr>
      <p:grpSpPr>
        <a:xfrm>
          <a:off x="0" y="0"/>
          <a:ext cx="0" cy="0"/>
          <a:chOff x="0" y="0"/>
          <a:chExt cx="0" cy="0"/>
        </a:xfrm>
      </p:grpSpPr>
      <p:sp>
        <p:nvSpPr>
          <p:cNvPr id="84" name="Google Shape;84;p1"/>
          <p:cNvSpPr/>
          <p:nvPr/>
        </p:nvSpPr>
        <p:spPr>
          <a:xfrm>
            <a:off x="1320464" y="1213786"/>
            <a:ext cx="15647100" cy="76416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
          <p:cNvSpPr/>
          <p:nvPr/>
        </p:nvSpPr>
        <p:spPr>
          <a:xfrm rot="-5400000">
            <a:off x="10532590" y="2233300"/>
            <a:ext cx="5602474" cy="5602474"/>
          </a:xfrm>
          <a:custGeom>
            <a:avLst/>
            <a:gdLst/>
            <a:ahLst/>
            <a:cxnLst/>
            <a:rect l="l" t="t" r="r" b="b"/>
            <a:pathLst>
              <a:path w="6350000" h="6350000" extrusionOk="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410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
          <p:cNvSpPr/>
          <p:nvPr/>
        </p:nvSpPr>
        <p:spPr>
          <a:xfrm rot="5400000">
            <a:off x="5551270" y="4640004"/>
            <a:ext cx="1502100" cy="9963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
          <p:cNvSpPr/>
          <p:nvPr/>
        </p:nvSpPr>
        <p:spPr>
          <a:xfrm>
            <a:off x="0" y="6605314"/>
            <a:ext cx="3687586" cy="3681686"/>
          </a:xfrm>
          <a:custGeom>
            <a:avLst/>
            <a:gdLst/>
            <a:ahLst/>
            <a:cxnLst/>
            <a:rect l="l" t="t" r="r" b="b"/>
            <a:pathLst>
              <a:path w="6350000" h="6339840" extrusionOk="0">
                <a:moveTo>
                  <a:pt x="6350000" y="6339840"/>
                </a:moveTo>
                <a:lnTo>
                  <a:pt x="0" y="6339840"/>
                </a:lnTo>
                <a:lnTo>
                  <a:pt x="0" y="0"/>
                </a:lnTo>
                <a:close/>
              </a:path>
            </a:pathLst>
          </a:custGeom>
          <a:solidFill>
            <a:srgbClr val="04106D"/>
          </a:solidFill>
          <a:ln>
            <a:noFill/>
          </a:ln>
        </p:spPr>
      </p:sp>
      <p:sp>
        <p:nvSpPr>
          <p:cNvPr id="88" name="Google Shape;88;p1"/>
          <p:cNvSpPr/>
          <p:nvPr/>
        </p:nvSpPr>
        <p:spPr>
          <a:xfrm>
            <a:off x="10762313" y="2463033"/>
            <a:ext cx="5143029" cy="5143008"/>
          </a:xfrm>
          <a:custGeom>
            <a:avLst/>
            <a:gdLst/>
            <a:ahLst/>
            <a:cxnLst/>
            <a:rect l="l" t="t" r="r" b="b"/>
            <a:pathLst>
              <a:path w="6350000" h="6349975" extrusionOk="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rotWithShape="1">
            <a:blip r:embed="rId3">
              <a:alphaModFix/>
            </a:blip>
            <a:stretch>
              <a:fillRect l="-121573" r="-121573"/>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
          <p:cNvSpPr/>
          <p:nvPr/>
        </p:nvSpPr>
        <p:spPr>
          <a:xfrm>
            <a:off x="-1373936" y="5588175"/>
            <a:ext cx="2694400" cy="2006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
          <p:cNvSpPr/>
          <p:nvPr/>
        </p:nvSpPr>
        <p:spPr>
          <a:xfrm>
            <a:off x="11112170" y="257483"/>
            <a:ext cx="3224554" cy="745678"/>
          </a:xfrm>
          <a:custGeom>
            <a:avLst/>
            <a:gdLst/>
            <a:ahLst/>
            <a:cxnLst/>
            <a:rect l="l" t="t" r="r" b="b"/>
            <a:pathLst>
              <a:path w="3224554" h="745678" extrusionOk="0">
                <a:moveTo>
                  <a:pt x="0" y="0"/>
                </a:moveTo>
                <a:lnTo>
                  <a:pt x="3224554" y="0"/>
                </a:lnTo>
                <a:lnTo>
                  <a:pt x="3224554" y="745678"/>
                </a:lnTo>
                <a:lnTo>
                  <a:pt x="0" y="745678"/>
                </a:lnTo>
                <a:lnTo>
                  <a:pt x="0" y="0"/>
                </a:lnTo>
                <a:close/>
              </a:path>
            </a:pathLst>
          </a:custGeom>
          <a:blipFill rotWithShape="1">
            <a:blip r:embed="rId4">
              <a:alphaModFix/>
            </a:blip>
            <a:stretch>
              <a:fillRect/>
            </a:stretch>
          </a:blipFill>
          <a:ln>
            <a:noFill/>
          </a:ln>
        </p:spPr>
      </p:sp>
      <p:sp>
        <p:nvSpPr>
          <p:cNvPr id="91" name="Google Shape;91;p1"/>
          <p:cNvSpPr/>
          <p:nvPr/>
        </p:nvSpPr>
        <p:spPr>
          <a:xfrm>
            <a:off x="14643323" y="245556"/>
            <a:ext cx="2326494" cy="769533"/>
          </a:xfrm>
          <a:custGeom>
            <a:avLst/>
            <a:gdLst/>
            <a:ahLst/>
            <a:cxnLst/>
            <a:rect l="l" t="t" r="r" b="b"/>
            <a:pathLst>
              <a:path w="2326494" h="769533" extrusionOk="0">
                <a:moveTo>
                  <a:pt x="0" y="0"/>
                </a:moveTo>
                <a:lnTo>
                  <a:pt x="2326494" y="0"/>
                </a:lnTo>
                <a:lnTo>
                  <a:pt x="2326494" y="769532"/>
                </a:lnTo>
                <a:lnTo>
                  <a:pt x="0" y="769532"/>
                </a:lnTo>
                <a:lnTo>
                  <a:pt x="0" y="0"/>
                </a:lnTo>
                <a:close/>
              </a:path>
            </a:pathLst>
          </a:custGeom>
          <a:blipFill rotWithShape="1">
            <a:blip r:embed="rId5">
              <a:alphaModFix/>
            </a:blip>
            <a:stretch>
              <a:fillRect/>
            </a:stretch>
          </a:blipFill>
          <a:ln>
            <a:noFill/>
          </a:ln>
        </p:spPr>
      </p:sp>
      <p:sp>
        <p:nvSpPr>
          <p:cNvPr id="92" name="Google Shape;92;p1"/>
          <p:cNvSpPr/>
          <p:nvPr/>
        </p:nvSpPr>
        <p:spPr>
          <a:xfrm>
            <a:off x="17276417" y="199258"/>
            <a:ext cx="862128" cy="862128"/>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6">
              <a:alphaModFix/>
            </a:blip>
            <a:stretch>
              <a:fillRect l="-52507" t="-17416" r="-56069" b="-38813"/>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
          <p:cNvSpPr txBox="1"/>
          <p:nvPr/>
        </p:nvSpPr>
        <p:spPr>
          <a:xfrm>
            <a:off x="1815726" y="1387353"/>
            <a:ext cx="8824500" cy="1277400"/>
          </a:xfrm>
          <a:prstGeom prst="rect">
            <a:avLst/>
          </a:prstGeom>
          <a:noFill/>
          <a:ln>
            <a:noFill/>
          </a:ln>
        </p:spPr>
        <p:txBody>
          <a:bodyPr spcFirstLastPara="1" wrap="square" lIns="0" tIns="0" rIns="0" bIns="0" anchor="t" anchorCtr="0">
            <a:spAutoFit/>
          </a:bodyPr>
          <a:lstStyle/>
          <a:p>
            <a:pPr marL="0" marR="0" lvl="0" indent="0" algn="l" rtl="0">
              <a:lnSpc>
                <a:spcPct val="115001"/>
              </a:lnSpc>
              <a:spcBef>
                <a:spcPts val="0"/>
              </a:spcBef>
              <a:spcAft>
                <a:spcPts val="0"/>
              </a:spcAft>
              <a:buNone/>
            </a:pPr>
            <a:r>
              <a:rPr lang="en-US" sz="8299" b="1" i="0" u="none" strike="noStrike" cap="none">
                <a:solidFill>
                  <a:srgbClr val="050A30"/>
                </a:solidFill>
                <a:latin typeface="Arial"/>
                <a:ea typeface="Arial"/>
                <a:cs typeface="Arial"/>
                <a:sym typeface="Arial"/>
              </a:rPr>
              <a:t>CIPHATHON</a:t>
            </a:r>
            <a:r>
              <a:rPr lang="en-US" sz="8299" b="1">
                <a:solidFill>
                  <a:srgbClr val="050A30"/>
                </a:solidFill>
              </a:rPr>
              <a:t> 2</a:t>
            </a:r>
            <a:r>
              <a:rPr lang="en-US" sz="8299" b="1" i="0" u="none" strike="noStrike" cap="none">
                <a:solidFill>
                  <a:srgbClr val="050A30"/>
                </a:solidFill>
                <a:latin typeface="Arial"/>
                <a:ea typeface="Arial"/>
                <a:cs typeface="Arial"/>
                <a:sym typeface="Arial"/>
              </a:rPr>
              <a:t>6</a:t>
            </a:r>
            <a:r>
              <a:rPr lang="en-US" sz="8299" b="1">
                <a:solidFill>
                  <a:srgbClr val="050A30"/>
                </a:solidFill>
              </a:rPr>
              <a:t>’</a:t>
            </a:r>
            <a:r>
              <a:rPr lang="en-US" sz="8299" b="1" i="0" u="none" strike="noStrike" cap="none">
                <a:solidFill>
                  <a:srgbClr val="050A30"/>
                </a:solidFill>
                <a:latin typeface="Arial"/>
                <a:ea typeface="Arial"/>
                <a:cs typeface="Arial"/>
                <a:sym typeface="Arial"/>
              </a:rPr>
              <a:t> </a:t>
            </a:r>
            <a:endParaRPr sz="100"/>
          </a:p>
        </p:txBody>
      </p:sp>
      <p:sp>
        <p:nvSpPr>
          <p:cNvPr id="94" name="Google Shape;94;p1"/>
          <p:cNvSpPr txBox="1"/>
          <p:nvPr/>
        </p:nvSpPr>
        <p:spPr>
          <a:xfrm>
            <a:off x="1904888" y="2980262"/>
            <a:ext cx="8043300" cy="3556743"/>
          </a:xfrm>
          <a:prstGeom prst="rect">
            <a:avLst/>
          </a:prstGeom>
          <a:noFill/>
          <a:ln>
            <a:noFill/>
          </a:ln>
        </p:spPr>
        <p:txBody>
          <a:bodyPr spcFirstLastPara="1" wrap="square" lIns="0" tIns="0" rIns="0" bIns="0" anchor="t" anchorCtr="0">
            <a:spAutoFit/>
          </a:bodyPr>
          <a:lstStyle/>
          <a:p>
            <a:pPr marL="0" marR="0" lvl="0" indent="0" algn="l" rtl="0">
              <a:lnSpc>
                <a:spcPct val="115004"/>
              </a:lnSpc>
              <a:spcBef>
                <a:spcPts val="0"/>
              </a:spcBef>
              <a:spcAft>
                <a:spcPts val="0"/>
              </a:spcAft>
              <a:buNone/>
            </a:pPr>
            <a:r>
              <a:rPr lang="en-US" sz="3699" b="0" i="0" u="none" strike="noStrike" cap="none" dirty="0">
                <a:solidFill>
                  <a:srgbClr val="050A30"/>
                </a:solidFill>
                <a:latin typeface="Arial"/>
                <a:ea typeface="Arial"/>
                <a:cs typeface="Arial"/>
                <a:sym typeface="Arial"/>
              </a:rPr>
              <a:t>Problem Statement:</a:t>
            </a:r>
            <a:r>
              <a:rPr lang="en-US" sz="3699" dirty="0">
                <a:solidFill>
                  <a:srgbClr val="050A30"/>
                </a:solidFill>
              </a:rPr>
              <a:t> </a:t>
            </a:r>
            <a:r>
              <a:rPr lang="en-US" sz="3000" dirty="0">
                <a:solidFill>
                  <a:srgbClr val="050A30"/>
                </a:solidFill>
              </a:rPr>
              <a:t>Personal Digital Privacy and Exposure Intelligence Engine</a:t>
            </a:r>
            <a:endParaRPr sz="3000" dirty="0"/>
          </a:p>
          <a:p>
            <a:pPr marL="0" marR="0" lvl="0" indent="0" algn="l" rtl="0">
              <a:lnSpc>
                <a:spcPct val="115004"/>
              </a:lnSpc>
              <a:spcBef>
                <a:spcPts val="0"/>
              </a:spcBef>
              <a:spcAft>
                <a:spcPts val="0"/>
              </a:spcAft>
              <a:buNone/>
            </a:pPr>
            <a:r>
              <a:rPr lang="en-US" sz="3699" b="0" i="0" u="none" strike="noStrike" cap="none" dirty="0">
                <a:solidFill>
                  <a:srgbClr val="050A30"/>
                </a:solidFill>
                <a:latin typeface="Arial"/>
                <a:ea typeface="Arial"/>
                <a:cs typeface="Arial"/>
                <a:sym typeface="Arial"/>
              </a:rPr>
              <a:t>Team Name: </a:t>
            </a:r>
            <a:r>
              <a:rPr lang="en-US" sz="3000" b="0" i="0" u="none" strike="noStrike" cap="none" dirty="0" err="1">
                <a:solidFill>
                  <a:srgbClr val="050A30"/>
                </a:solidFill>
                <a:latin typeface="Arial"/>
                <a:ea typeface="Arial"/>
                <a:cs typeface="Arial"/>
                <a:sym typeface="Arial"/>
              </a:rPr>
              <a:t>Datayoddhas</a:t>
            </a:r>
            <a:endParaRPr sz="3000" dirty="0"/>
          </a:p>
          <a:p>
            <a:pPr marL="0" marR="0" lvl="0" indent="0" algn="l" rtl="0">
              <a:lnSpc>
                <a:spcPct val="115004"/>
              </a:lnSpc>
              <a:spcBef>
                <a:spcPts val="0"/>
              </a:spcBef>
              <a:spcAft>
                <a:spcPts val="0"/>
              </a:spcAft>
              <a:buNone/>
            </a:pPr>
            <a:r>
              <a:rPr lang="en-US" sz="3699" b="0" i="0" u="none" strike="noStrike" cap="none" dirty="0">
                <a:solidFill>
                  <a:srgbClr val="050A30"/>
                </a:solidFill>
                <a:latin typeface="Arial"/>
                <a:ea typeface="Arial"/>
                <a:cs typeface="Arial"/>
                <a:sym typeface="Arial"/>
              </a:rPr>
              <a:t>Team </a:t>
            </a:r>
            <a:r>
              <a:rPr lang="en-US" sz="3699" dirty="0">
                <a:solidFill>
                  <a:srgbClr val="050A30"/>
                </a:solidFill>
              </a:rPr>
              <a:t>Members</a:t>
            </a:r>
            <a:r>
              <a:rPr lang="en-US" sz="3699" b="0" i="0" u="none" strike="noStrike" cap="none" dirty="0">
                <a:solidFill>
                  <a:srgbClr val="050A30"/>
                </a:solidFill>
                <a:latin typeface="Arial"/>
                <a:ea typeface="Arial"/>
                <a:cs typeface="Arial"/>
                <a:sym typeface="Arial"/>
              </a:rPr>
              <a:t>: </a:t>
            </a:r>
            <a:r>
              <a:rPr lang="en-US" sz="3000" b="0" i="0" u="none" strike="noStrike" cap="none" dirty="0">
                <a:solidFill>
                  <a:srgbClr val="050A30"/>
                </a:solidFill>
                <a:latin typeface="Arial"/>
                <a:ea typeface="Arial"/>
                <a:cs typeface="Arial"/>
                <a:sym typeface="Arial"/>
              </a:rPr>
              <a:t>Khushi Tiwari, Yashika Raj, Tanushree Dharmavaram, Vanshika Kaushal</a:t>
            </a:r>
            <a:endParaRPr sz="3000" dirty="0"/>
          </a:p>
        </p:txBody>
      </p:sp>
      <p:pic>
        <p:nvPicPr>
          <p:cNvPr id="95" name="Google Shape;95;p1"/>
          <p:cNvPicPr preferRelativeResize="0"/>
          <p:nvPr/>
        </p:nvPicPr>
        <p:blipFill>
          <a:blip r:embed="rId7">
            <a:alphaModFix/>
          </a:blip>
          <a:stretch>
            <a:fillRect/>
          </a:stretch>
        </p:blipFill>
        <p:spPr>
          <a:xfrm>
            <a:off x="87186" y="26496"/>
            <a:ext cx="1340475" cy="127740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
          <p:cNvSpPr/>
          <p:nvPr/>
        </p:nvSpPr>
        <p:spPr>
          <a:xfrm rot="628038">
            <a:off x="12564793" y="-1386196"/>
            <a:ext cx="2729333" cy="13687572"/>
          </a:xfrm>
          <a:prstGeom prst="rect">
            <a:avLst/>
          </a:prstGeom>
          <a:solidFill>
            <a:srgbClr val="0410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txBox="1"/>
          <p:nvPr/>
        </p:nvSpPr>
        <p:spPr>
          <a:xfrm>
            <a:off x="394490" y="2429340"/>
            <a:ext cx="11337926" cy="5970865"/>
          </a:xfrm>
          <a:prstGeom prst="rect">
            <a:avLst/>
          </a:prstGeom>
          <a:noFill/>
          <a:ln>
            <a:noFill/>
          </a:ln>
        </p:spPr>
        <p:txBody>
          <a:bodyPr spcFirstLastPara="1" wrap="square" lIns="0" tIns="0" rIns="0" bIns="0" anchor="t" anchorCtr="0">
            <a:spAutoFit/>
          </a:bodyPr>
          <a:lstStyle/>
          <a:p>
            <a:r>
              <a:rPr lang="en-US" sz="2200" b="1" dirty="0">
                <a:solidFill>
                  <a:srgbClr val="002060"/>
                </a:solidFill>
              </a:rPr>
              <a:t>Idea / Prototype</a:t>
            </a:r>
            <a:endParaRPr lang="en-US" sz="2200" dirty="0">
              <a:solidFill>
                <a:srgbClr val="002060"/>
              </a:solidFill>
            </a:endParaRPr>
          </a:p>
          <a:p>
            <a:pPr marL="342900" indent="-342900">
              <a:buFont typeface="Arial" panose="020B0604020202020204" pitchFamily="34" charset="0"/>
              <a:buChar char="•"/>
            </a:pPr>
            <a:r>
              <a:rPr lang="en-US" sz="2200" dirty="0"/>
              <a:t>Detects </a:t>
            </a:r>
            <a:r>
              <a:rPr lang="en-US" sz="2200" b="1" dirty="0"/>
              <a:t>scattered digital identity fragments</a:t>
            </a:r>
            <a:r>
              <a:rPr lang="en-US" sz="2200" dirty="0"/>
              <a:t> across the internet.</a:t>
            </a:r>
          </a:p>
          <a:p>
            <a:pPr marL="342900" indent="-342900">
              <a:buFont typeface="Arial" panose="020B0604020202020204" pitchFamily="34" charset="0"/>
              <a:buChar char="•"/>
            </a:pPr>
            <a:r>
              <a:rPr lang="en-US" sz="2200" dirty="0"/>
              <a:t>Input: </a:t>
            </a:r>
            <a:r>
              <a:rPr lang="en-US" sz="2200" b="1" dirty="0"/>
              <a:t>email, username, phone number</a:t>
            </a:r>
            <a:r>
              <a:rPr lang="en-US" sz="2200" dirty="0"/>
              <a:t>.</a:t>
            </a:r>
          </a:p>
          <a:p>
            <a:pPr marL="342900" indent="-342900">
              <a:buFont typeface="Arial" panose="020B0604020202020204" pitchFamily="34" charset="0"/>
              <a:buChar char="•"/>
            </a:pPr>
            <a:r>
              <a:rPr lang="en-US" sz="2200" dirty="0"/>
              <a:t>Collects data from </a:t>
            </a:r>
            <a:r>
              <a:rPr lang="en-US" sz="2200" b="1" dirty="0"/>
              <a:t>breach databases, social platforms, and OSINT sources</a:t>
            </a:r>
            <a:r>
              <a:rPr lang="en-US" sz="2200" dirty="0"/>
              <a:t>.</a:t>
            </a:r>
          </a:p>
          <a:p>
            <a:pPr marL="342900" indent="-342900">
              <a:buFont typeface="Arial" panose="020B0604020202020204" pitchFamily="34" charset="0"/>
              <a:buChar char="•"/>
            </a:pPr>
            <a:r>
              <a:rPr lang="en-US" sz="2200" dirty="0"/>
              <a:t>Correlates fragments to build a </a:t>
            </a:r>
            <a:r>
              <a:rPr lang="en-US" sz="2200" b="1" dirty="0"/>
              <a:t>digital identity footprint</a:t>
            </a:r>
            <a:r>
              <a:rPr lang="en-US" sz="2200" dirty="0"/>
              <a:t>.</a:t>
            </a:r>
          </a:p>
          <a:p>
            <a:endParaRPr lang="en-US" sz="2200" dirty="0"/>
          </a:p>
          <a:p>
            <a:r>
              <a:rPr lang="en-US" sz="2200" b="1" dirty="0">
                <a:solidFill>
                  <a:srgbClr val="002060"/>
                </a:solidFill>
              </a:rPr>
              <a:t>How It Addresses the Problem</a:t>
            </a:r>
            <a:endParaRPr lang="en-US" sz="2200" dirty="0">
              <a:solidFill>
                <a:srgbClr val="002060"/>
              </a:solidFill>
            </a:endParaRPr>
          </a:p>
          <a:p>
            <a:pPr marL="342900" indent="-342900">
              <a:buFont typeface="Arial" panose="020B0604020202020204" pitchFamily="34" charset="0"/>
              <a:buChar char="•"/>
            </a:pPr>
            <a:r>
              <a:rPr lang="en-US" sz="2200" dirty="0"/>
              <a:t>Identifies </a:t>
            </a:r>
            <a:r>
              <a:rPr lang="en-US" sz="2200" b="1" dirty="0"/>
              <a:t>exposed identity fragments</a:t>
            </a:r>
            <a:r>
              <a:rPr lang="en-US" sz="2200" dirty="0"/>
              <a:t> before attacker exploitation.</a:t>
            </a:r>
          </a:p>
          <a:p>
            <a:pPr marL="342900" indent="-342900">
              <a:buFont typeface="Arial" panose="020B0604020202020204" pitchFamily="34" charset="0"/>
              <a:buChar char="•"/>
            </a:pPr>
            <a:r>
              <a:rPr lang="en-US" sz="2200" dirty="0"/>
              <a:t>Uses </a:t>
            </a:r>
            <a:r>
              <a:rPr lang="en-US" sz="2200" b="1" dirty="0"/>
              <a:t>identity correlation and similarity matching</a:t>
            </a:r>
            <a:r>
              <a:rPr lang="en-US" sz="2200" dirty="0"/>
              <a:t> across platforms.</a:t>
            </a:r>
          </a:p>
          <a:p>
            <a:pPr marL="342900" indent="-342900">
              <a:buFont typeface="Arial" panose="020B0604020202020204" pitchFamily="34" charset="0"/>
              <a:buChar char="•"/>
            </a:pPr>
            <a:r>
              <a:rPr lang="en-US" sz="2200" dirty="0"/>
              <a:t>Generates a </a:t>
            </a:r>
            <a:r>
              <a:rPr lang="en-US" sz="2200" b="1" dirty="0"/>
              <a:t>Cyber Exposure Risk Score</a:t>
            </a:r>
            <a:r>
              <a:rPr lang="en-US" sz="2200" dirty="0"/>
              <a:t>.</a:t>
            </a:r>
          </a:p>
          <a:p>
            <a:pPr marL="342900" indent="-342900">
              <a:buFont typeface="Arial" panose="020B0604020202020204" pitchFamily="34" charset="0"/>
              <a:buChar char="•"/>
            </a:pPr>
            <a:r>
              <a:rPr lang="en-US" sz="2200" dirty="0"/>
              <a:t>Displays results via </a:t>
            </a:r>
            <a:r>
              <a:rPr lang="en-US" sz="2200" b="1" dirty="0"/>
              <a:t>graph-based identity visualization</a:t>
            </a:r>
            <a:r>
              <a:rPr lang="en-US" sz="2200" dirty="0"/>
              <a:t> showing attack paths.</a:t>
            </a:r>
          </a:p>
          <a:p>
            <a:endParaRPr lang="en-US" sz="2200" dirty="0"/>
          </a:p>
          <a:p>
            <a:r>
              <a:rPr lang="en-US" sz="2200" b="1" dirty="0">
                <a:solidFill>
                  <a:srgbClr val="002060"/>
                </a:solidFill>
              </a:rPr>
              <a:t>Innovation &amp; Uniqueness</a:t>
            </a:r>
            <a:endParaRPr lang="en-US" sz="2200" dirty="0">
              <a:solidFill>
                <a:srgbClr val="002060"/>
              </a:solidFill>
            </a:endParaRPr>
          </a:p>
          <a:p>
            <a:pPr marL="342900" indent="-342900">
              <a:buFont typeface="Arial" panose="020B0604020202020204" pitchFamily="34" charset="0"/>
              <a:buChar char="•"/>
            </a:pPr>
            <a:r>
              <a:rPr lang="en-US" sz="2200" dirty="0"/>
              <a:t>Integrates </a:t>
            </a:r>
            <a:r>
              <a:rPr lang="en-US" sz="2200" b="1" dirty="0"/>
              <a:t>breach detection, username enumeration, and OSINT analysis</a:t>
            </a:r>
            <a:r>
              <a:rPr lang="en-US" sz="2200" dirty="0"/>
              <a:t>.</a:t>
            </a:r>
          </a:p>
          <a:p>
            <a:pPr marL="342900" indent="-342900">
              <a:buFont typeface="Arial" panose="020B0604020202020204" pitchFamily="34" charset="0"/>
              <a:buChar char="•"/>
            </a:pPr>
            <a:r>
              <a:rPr lang="en-US" sz="2200" dirty="0"/>
              <a:t>Performs </a:t>
            </a:r>
            <a:r>
              <a:rPr lang="en-US" sz="2200" b="1" dirty="0"/>
              <a:t>identity reconstruction risk assessment</a:t>
            </a:r>
            <a:r>
              <a:rPr lang="en-US" sz="2200" dirty="0"/>
              <a:t>.</a:t>
            </a:r>
          </a:p>
          <a:p>
            <a:pPr marL="342900" indent="-342900">
              <a:buFont typeface="Arial" panose="020B0604020202020204" pitchFamily="34" charset="0"/>
              <a:buChar char="•"/>
            </a:pPr>
            <a:r>
              <a:rPr lang="en-US" sz="2200" dirty="0"/>
              <a:t>Combines </a:t>
            </a:r>
            <a:r>
              <a:rPr lang="en-US" sz="2200" b="1" dirty="0"/>
              <a:t>automated risk scoring with network visualization</a:t>
            </a:r>
            <a:r>
              <a:rPr lang="en-US" sz="2200" dirty="0"/>
              <a:t> to reduce </a:t>
            </a:r>
            <a:r>
              <a:rPr lang="en-US" sz="2200" b="1" dirty="0"/>
              <a:t>identity attack surface</a:t>
            </a:r>
            <a:r>
              <a:rPr lang="en-US" dirty="0"/>
              <a:t>.</a:t>
            </a:r>
          </a:p>
          <a:p>
            <a:pPr marL="0" marR="0" lvl="0" indent="0" algn="l" rtl="0">
              <a:lnSpc>
                <a:spcPct val="100000"/>
              </a:lnSpc>
              <a:spcBef>
                <a:spcPts val="0"/>
              </a:spcBef>
              <a:spcAft>
                <a:spcPts val="0"/>
              </a:spcAft>
              <a:buNone/>
            </a:pPr>
            <a:endParaRPr dirty="0"/>
          </a:p>
        </p:txBody>
      </p:sp>
      <p:sp>
        <p:nvSpPr>
          <p:cNvPr id="104" name="Google Shape;104;p2"/>
          <p:cNvSpPr txBox="1"/>
          <p:nvPr/>
        </p:nvSpPr>
        <p:spPr>
          <a:xfrm>
            <a:off x="394490" y="1248541"/>
            <a:ext cx="11337926" cy="840230"/>
          </a:xfrm>
          <a:prstGeom prst="rect">
            <a:avLst/>
          </a:prstGeom>
          <a:noFill/>
          <a:ln>
            <a:noFill/>
          </a:ln>
        </p:spPr>
        <p:txBody>
          <a:bodyPr spcFirstLastPara="1" wrap="square" lIns="0" tIns="0" rIns="0" bIns="0" anchor="t" anchorCtr="0">
            <a:spAutoFit/>
          </a:bodyPr>
          <a:lstStyle/>
          <a:p>
            <a:pPr marL="0" marR="0" lvl="0" indent="0" algn="l" rtl="0">
              <a:lnSpc>
                <a:spcPct val="130004"/>
              </a:lnSpc>
              <a:spcBef>
                <a:spcPts val="0"/>
              </a:spcBef>
              <a:spcAft>
                <a:spcPts val="0"/>
              </a:spcAft>
              <a:buNone/>
            </a:pPr>
            <a:r>
              <a:rPr lang="en-US" sz="4200" b="1" dirty="0">
                <a:solidFill>
                  <a:srgbClr val="002060"/>
                </a:solidFill>
              </a:rPr>
              <a:t>Persona Trace: Identity Exposure Detector </a:t>
            </a:r>
            <a:endParaRPr sz="4200" b="1" dirty="0">
              <a:solidFill>
                <a:srgbClr val="002060"/>
              </a:solidFill>
            </a:endParaRPr>
          </a:p>
        </p:txBody>
      </p:sp>
      <p:sp>
        <p:nvSpPr>
          <p:cNvPr id="105" name="Google Shape;105;p2"/>
          <p:cNvSpPr/>
          <p:nvPr/>
        </p:nvSpPr>
        <p:spPr>
          <a:xfrm>
            <a:off x="16470521" y="0"/>
            <a:ext cx="1817479" cy="1817471"/>
          </a:xfrm>
          <a:custGeom>
            <a:avLst/>
            <a:gdLst/>
            <a:ahLst/>
            <a:cxnLst/>
            <a:rect l="l" t="t" r="r" b="b"/>
            <a:pathLst>
              <a:path w="6350000" h="6349975" extrusionOk="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rotWithShape="1">
            <a:blip r:embed="rId3">
              <a:alphaModFix/>
            </a:blip>
            <a:stretch>
              <a:fillRect l="-121573" r="-121573"/>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6" name="Google Shape;106;p2"/>
          <p:cNvGrpSpPr/>
          <p:nvPr/>
        </p:nvGrpSpPr>
        <p:grpSpPr>
          <a:xfrm>
            <a:off x="1824743" y="227833"/>
            <a:ext cx="7026374" cy="862128"/>
            <a:chOff x="0" y="0"/>
            <a:chExt cx="9368499" cy="1149503"/>
          </a:xfrm>
        </p:grpSpPr>
        <p:sp>
          <p:nvSpPr>
            <p:cNvPr id="107" name="Google Shape;107;p2"/>
            <p:cNvSpPr/>
            <p:nvPr/>
          </p:nvSpPr>
          <p:spPr>
            <a:xfrm>
              <a:off x="0" y="77633"/>
              <a:ext cx="4299406" cy="994238"/>
            </a:xfrm>
            <a:custGeom>
              <a:avLst/>
              <a:gdLst/>
              <a:ahLst/>
              <a:cxnLst/>
              <a:rect l="l" t="t" r="r" b="b"/>
              <a:pathLst>
                <a:path w="4299406" h="994238" extrusionOk="0">
                  <a:moveTo>
                    <a:pt x="0" y="0"/>
                  </a:moveTo>
                  <a:lnTo>
                    <a:pt x="4299406" y="0"/>
                  </a:lnTo>
                  <a:lnTo>
                    <a:pt x="4299406" y="994238"/>
                  </a:lnTo>
                  <a:lnTo>
                    <a:pt x="0" y="994238"/>
                  </a:lnTo>
                  <a:lnTo>
                    <a:pt x="0" y="0"/>
                  </a:lnTo>
                  <a:close/>
                </a:path>
              </a:pathLst>
            </a:custGeom>
            <a:blipFill rotWithShape="1">
              <a:blip r:embed="rId4">
                <a:alphaModFix/>
              </a:blip>
              <a:stretch>
                <a:fillRect/>
              </a:stretch>
            </a:blipFill>
            <a:ln>
              <a:noFill/>
            </a:ln>
          </p:spPr>
        </p:sp>
        <p:sp>
          <p:nvSpPr>
            <p:cNvPr id="108" name="Google Shape;108;p2"/>
            <p:cNvSpPr/>
            <p:nvPr/>
          </p:nvSpPr>
          <p:spPr>
            <a:xfrm>
              <a:off x="4708205" y="61730"/>
              <a:ext cx="3101992" cy="1026044"/>
            </a:xfrm>
            <a:custGeom>
              <a:avLst/>
              <a:gdLst/>
              <a:ahLst/>
              <a:cxnLst/>
              <a:rect l="l" t="t" r="r" b="b"/>
              <a:pathLst>
                <a:path w="3101992" h="1026044" extrusionOk="0">
                  <a:moveTo>
                    <a:pt x="0" y="0"/>
                  </a:moveTo>
                  <a:lnTo>
                    <a:pt x="3101992" y="0"/>
                  </a:lnTo>
                  <a:lnTo>
                    <a:pt x="3101992" y="1026043"/>
                  </a:lnTo>
                  <a:lnTo>
                    <a:pt x="0" y="1026043"/>
                  </a:lnTo>
                  <a:lnTo>
                    <a:pt x="0" y="0"/>
                  </a:lnTo>
                  <a:close/>
                </a:path>
              </a:pathLst>
            </a:custGeom>
            <a:blipFill rotWithShape="1">
              <a:blip r:embed="rId5">
                <a:alphaModFix/>
              </a:blip>
              <a:stretch>
                <a:fillRect/>
              </a:stretch>
            </a:blipFill>
            <a:ln>
              <a:noFill/>
            </a:ln>
          </p:spPr>
        </p:sp>
        <p:sp>
          <p:nvSpPr>
            <p:cNvPr id="109" name="Google Shape;109;p2"/>
            <p:cNvSpPr/>
            <p:nvPr/>
          </p:nvSpPr>
          <p:spPr>
            <a:xfrm>
              <a:off x="8218996" y="0"/>
              <a:ext cx="1149503" cy="1149503"/>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6">
                <a:alphaModFix/>
              </a:blip>
              <a:stretch>
                <a:fillRect l="-52507" t="-17416" r="-56069" b="-38813"/>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10" name="Google Shape;110;p2"/>
          <p:cNvPicPr preferRelativeResize="0"/>
          <p:nvPr/>
        </p:nvPicPr>
        <p:blipFill>
          <a:blip r:embed="rId7">
            <a:alphaModFix/>
          </a:blip>
          <a:stretch>
            <a:fillRect/>
          </a:stretch>
        </p:blipFill>
        <p:spPr>
          <a:xfrm>
            <a:off x="104625" y="-90838"/>
            <a:ext cx="1499450" cy="1499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3"/>
          <p:cNvSpPr/>
          <p:nvPr/>
        </p:nvSpPr>
        <p:spPr>
          <a:xfrm>
            <a:off x="10455225" y="0"/>
            <a:ext cx="7854786" cy="10287000"/>
          </a:xfrm>
          <a:prstGeom prst="rect">
            <a:avLst/>
          </a:prstGeom>
          <a:solidFill>
            <a:srgbClr val="0410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3"/>
          <p:cNvSpPr txBox="1"/>
          <p:nvPr/>
        </p:nvSpPr>
        <p:spPr>
          <a:xfrm>
            <a:off x="523726" y="1494305"/>
            <a:ext cx="9165900" cy="6463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200" b="1" dirty="0">
                <a:solidFill>
                  <a:srgbClr val="021852"/>
                </a:solidFill>
              </a:rPr>
              <a:t>Technical Approach</a:t>
            </a:r>
            <a:endParaRPr sz="4200" b="1" dirty="0"/>
          </a:p>
        </p:txBody>
      </p:sp>
      <p:sp>
        <p:nvSpPr>
          <p:cNvPr id="117" name="Google Shape;117;p3"/>
          <p:cNvSpPr txBox="1"/>
          <p:nvPr/>
        </p:nvSpPr>
        <p:spPr>
          <a:xfrm>
            <a:off x="523726" y="2441142"/>
            <a:ext cx="9271627" cy="7201972"/>
          </a:xfrm>
          <a:prstGeom prst="rect">
            <a:avLst/>
          </a:prstGeom>
          <a:noFill/>
          <a:ln>
            <a:noFill/>
          </a:ln>
        </p:spPr>
        <p:txBody>
          <a:bodyPr spcFirstLastPara="1" wrap="square" lIns="0" tIns="0" rIns="0" bIns="0" anchor="t" anchorCtr="0">
            <a:spAutoFit/>
          </a:bodyPr>
          <a:lstStyle/>
          <a:p>
            <a:r>
              <a:rPr lang="en-US" sz="2200" b="1" dirty="0">
                <a:solidFill>
                  <a:srgbClr val="002060"/>
                </a:solidFill>
              </a:rPr>
              <a:t>Technologies Used</a:t>
            </a:r>
          </a:p>
          <a:p>
            <a:pPr marL="342900" indent="-342900">
              <a:buFont typeface="Arial" panose="020B0604020202020204" pitchFamily="34" charset="0"/>
              <a:buChar char="•"/>
            </a:pPr>
            <a:r>
              <a:rPr lang="en-US" sz="2200" b="1" dirty="0"/>
              <a:t>Frontend:</a:t>
            </a:r>
            <a:r>
              <a:rPr lang="en-US" sz="2200" dirty="0"/>
              <a:t> React.js, Tailwind CSS</a:t>
            </a:r>
          </a:p>
          <a:p>
            <a:pPr marL="342900" indent="-342900">
              <a:buFont typeface="Arial" panose="020B0604020202020204" pitchFamily="34" charset="0"/>
              <a:buChar char="•"/>
            </a:pPr>
            <a:r>
              <a:rPr lang="en-US" sz="2200" b="1" dirty="0"/>
              <a:t>Backend:</a:t>
            </a:r>
            <a:r>
              <a:rPr lang="en-US" sz="2200" dirty="0"/>
              <a:t> Python (</a:t>
            </a:r>
            <a:r>
              <a:rPr lang="en-US" sz="2200" dirty="0" err="1"/>
              <a:t>FastAPI</a:t>
            </a:r>
            <a:r>
              <a:rPr lang="en-US" sz="2200" dirty="0"/>
              <a:t>)</a:t>
            </a:r>
          </a:p>
          <a:p>
            <a:pPr marL="342900" indent="-342900">
              <a:buFont typeface="Arial" panose="020B0604020202020204" pitchFamily="34" charset="0"/>
              <a:buChar char="•"/>
            </a:pPr>
            <a:r>
              <a:rPr lang="en-US" sz="2200" b="1" dirty="0"/>
              <a:t>Languages:</a:t>
            </a:r>
            <a:r>
              <a:rPr lang="en-US" sz="2200" dirty="0"/>
              <a:t> Python, JavaScript, HTML, CSS</a:t>
            </a:r>
          </a:p>
          <a:p>
            <a:pPr marL="342900" indent="-342900">
              <a:buFont typeface="Arial" panose="020B0604020202020204" pitchFamily="34" charset="0"/>
              <a:buChar char="•"/>
            </a:pPr>
            <a:r>
              <a:rPr lang="en-US" sz="2200" b="1" dirty="0"/>
              <a:t>APIs / Tools:</a:t>
            </a:r>
            <a:endParaRPr lang="en-US" sz="2200" dirty="0"/>
          </a:p>
          <a:p>
            <a:pPr lvl="1"/>
            <a:r>
              <a:rPr lang="en-US" sz="2200" dirty="0"/>
              <a:t>     </a:t>
            </a:r>
            <a:r>
              <a:rPr lang="en-US" sz="2200" dirty="0" err="1"/>
              <a:t>XposedOrNot</a:t>
            </a:r>
            <a:r>
              <a:rPr lang="en-US" sz="2200" dirty="0"/>
              <a:t> (breach detection)</a:t>
            </a:r>
          </a:p>
          <a:p>
            <a:pPr lvl="1"/>
            <a:r>
              <a:rPr lang="en-US" sz="2200" dirty="0"/>
              <a:t>     GitHub API (profile lookup)</a:t>
            </a:r>
          </a:p>
          <a:p>
            <a:pPr lvl="1"/>
            <a:r>
              <a:rPr lang="en-US" sz="2200" dirty="0"/>
              <a:t>     Sherlock (username search)</a:t>
            </a:r>
          </a:p>
          <a:p>
            <a:pPr marL="342900" indent="-342900">
              <a:buFont typeface="Arial" panose="020B0604020202020204" pitchFamily="34" charset="0"/>
              <a:buChar char="•"/>
            </a:pPr>
            <a:r>
              <a:rPr lang="en-US" sz="2200" b="1" dirty="0"/>
              <a:t>Visualization:</a:t>
            </a:r>
            <a:r>
              <a:rPr lang="en-US" sz="2200" dirty="0"/>
              <a:t> Cytoscape.js</a:t>
            </a:r>
          </a:p>
          <a:p>
            <a:endParaRPr lang="en-US" sz="2200" dirty="0"/>
          </a:p>
          <a:p>
            <a:r>
              <a:rPr lang="en-US" sz="2200" b="1" dirty="0">
                <a:solidFill>
                  <a:srgbClr val="002060"/>
                </a:solidFill>
              </a:rPr>
              <a:t>Methodology / Implementation</a:t>
            </a:r>
          </a:p>
          <a:p>
            <a:pPr marL="342900" indent="-342900">
              <a:buFont typeface="Arial" panose="020B0604020202020204" pitchFamily="34" charset="0"/>
              <a:buChar char="•"/>
            </a:pPr>
            <a:r>
              <a:rPr lang="en-US" sz="2200" b="1" dirty="0"/>
              <a:t>User Input:</a:t>
            </a:r>
            <a:r>
              <a:rPr lang="en-US" sz="2200" dirty="0"/>
              <a:t> Email, username, phone number collected via UI.</a:t>
            </a:r>
          </a:p>
          <a:p>
            <a:pPr marL="342900" indent="-342900">
              <a:buFont typeface="Arial" panose="020B0604020202020204" pitchFamily="34" charset="0"/>
              <a:buChar char="•"/>
            </a:pPr>
            <a:r>
              <a:rPr lang="en-US" sz="2200" b="1" dirty="0"/>
              <a:t>Data Collection:</a:t>
            </a:r>
            <a:r>
              <a:rPr lang="en-US" sz="2200" dirty="0"/>
              <a:t> APIs &amp; OSINT tools scan platforms for identity fragments.</a:t>
            </a:r>
          </a:p>
          <a:p>
            <a:pPr marL="342900" indent="-342900">
              <a:buFont typeface="Arial" panose="020B0604020202020204" pitchFamily="34" charset="0"/>
              <a:buChar char="•"/>
            </a:pPr>
            <a:r>
              <a:rPr lang="en-US" sz="2200" b="1" dirty="0"/>
              <a:t>Identity Correlation:</a:t>
            </a:r>
            <a:r>
              <a:rPr lang="en-US" sz="2200" dirty="0"/>
              <a:t> Similarity matching links accounts across sources.</a:t>
            </a:r>
          </a:p>
          <a:p>
            <a:pPr marL="342900" indent="-342900">
              <a:buFont typeface="Arial" panose="020B0604020202020204" pitchFamily="34" charset="0"/>
              <a:buChar char="•"/>
            </a:pPr>
            <a:r>
              <a:rPr lang="en-US" sz="2200" b="1" dirty="0"/>
              <a:t>Risk Scoring:</a:t>
            </a:r>
            <a:r>
              <a:rPr lang="en-US" sz="2200" dirty="0"/>
              <a:t> Calculates </a:t>
            </a:r>
            <a:r>
              <a:rPr lang="en-US" sz="2200" b="1" dirty="0"/>
              <a:t>Cyber Exposure Score</a:t>
            </a:r>
            <a:r>
              <a:rPr lang="en-US" sz="2200" dirty="0"/>
              <a:t> based on detected data.</a:t>
            </a:r>
          </a:p>
          <a:p>
            <a:pPr marL="342900" indent="-342900">
              <a:buFont typeface="Arial" panose="020B0604020202020204" pitchFamily="34" charset="0"/>
              <a:buChar char="•"/>
            </a:pPr>
            <a:r>
              <a:rPr lang="en-US" sz="2200" b="1" dirty="0"/>
              <a:t>Visualization:</a:t>
            </a:r>
            <a:r>
              <a:rPr lang="en-US" sz="2200" dirty="0"/>
              <a:t> Graph network shows identity connections and attack paths.</a:t>
            </a:r>
          </a:p>
          <a:p>
            <a:pPr marL="50800" lvl="0">
              <a:buSzPts val="2800"/>
            </a:pPr>
            <a:endParaRPr sz="2800" dirty="0"/>
          </a:p>
        </p:txBody>
      </p:sp>
      <p:sp>
        <p:nvSpPr>
          <p:cNvPr id="118" name="Google Shape;118;p3"/>
          <p:cNvSpPr/>
          <p:nvPr/>
        </p:nvSpPr>
        <p:spPr>
          <a:xfrm>
            <a:off x="16470521" y="0"/>
            <a:ext cx="1817479" cy="1817471"/>
          </a:xfrm>
          <a:custGeom>
            <a:avLst/>
            <a:gdLst/>
            <a:ahLst/>
            <a:cxnLst/>
            <a:rect l="l" t="t" r="r" b="b"/>
            <a:pathLst>
              <a:path w="6350000" h="6349975" extrusionOk="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rotWithShape="1">
            <a:blip r:embed="rId3">
              <a:alphaModFix/>
            </a:blip>
            <a:stretch>
              <a:fillRect l="-121573" r="-121573"/>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 name="Google Shape;119;p3"/>
          <p:cNvGrpSpPr/>
          <p:nvPr/>
        </p:nvGrpSpPr>
        <p:grpSpPr>
          <a:xfrm>
            <a:off x="1824743" y="227833"/>
            <a:ext cx="7026374" cy="862128"/>
            <a:chOff x="0" y="0"/>
            <a:chExt cx="9368499" cy="1149503"/>
          </a:xfrm>
        </p:grpSpPr>
        <p:sp>
          <p:nvSpPr>
            <p:cNvPr id="120" name="Google Shape;120;p3"/>
            <p:cNvSpPr/>
            <p:nvPr/>
          </p:nvSpPr>
          <p:spPr>
            <a:xfrm>
              <a:off x="0" y="77633"/>
              <a:ext cx="4299406" cy="994238"/>
            </a:xfrm>
            <a:custGeom>
              <a:avLst/>
              <a:gdLst/>
              <a:ahLst/>
              <a:cxnLst/>
              <a:rect l="l" t="t" r="r" b="b"/>
              <a:pathLst>
                <a:path w="4299406" h="994238" extrusionOk="0">
                  <a:moveTo>
                    <a:pt x="0" y="0"/>
                  </a:moveTo>
                  <a:lnTo>
                    <a:pt x="4299406" y="0"/>
                  </a:lnTo>
                  <a:lnTo>
                    <a:pt x="4299406" y="994238"/>
                  </a:lnTo>
                  <a:lnTo>
                    <a:pt x="0" y="994238"/>
                  </a:lnTo>
                  <a:lnTo>
                    <a:pt x="0" y="0"/>
                  </a:lnTo>
                  <a:close/>
                </a:path>
              </a:pathLst>
            </a:custGeom>
            <a:blipFill rotWithShape="1">
              <a:blip r:embed="rId4">
                <a:alphaModFix/>
              </a:blip>
              <a:stretch>
                <a:fillRect/>
              </a:stretch>
            </a:blipFill>
            <a:ln>
              <a:noFill/>
            </a:ln>
          </p:spPr>
        </p:sp>
        <p:sp>
          <p:nvSpPr>
            <p:cNvPr id="121" name="Google Shape;121;p3"/>
            <p:cNvSpPr/>
            <p:nvPr/>
          </p:nvSpPr>
          <p:spPr>
            <a:xfrm>
              <a:off x="4708205" y="61730"/>
              <a:ext cx="3101992" cy="1026044"/>
            </a:xfrm>
            <a:custGeom>
              <a:avLst/>
              <a:gdLst/>
              <a:ahLst/>
              <a:cxnLst/>
              <a:rect l="l" t="t" r="r" b="b"/>
              <a:pathLst>
                <a:path w="3101992" h="1026044" extrusionOk="0">
                  <a:moveTo>
                    <a:pt x="0" y="0"/>
                  </a:moveTo>
                  <a:lnTo>
                    <a:pt x="3101992" y="0"/>
                  </a:lnTo>
                  <a:lnTo>
                    <a:pt x="3101992" y="1026043"/>
                  </a:lnTo>
                  <a:lnTo>
                    <a:pt x="0" y="1026043"/>
                  </a:lnTo>
                  <a:lnTo>
                    <a:pt x="0" y="0"/>
                  </a:lnTo>
                  <a:close/>
                </a:path>
              </a:pathLst>
            </a:custGeom>
            <a:blipFill rotWithShape="1">
              <a:blip r:embed="rId5">
                <a:alphaModFix/>
              </a:blip>
              <a:stretch>
                <a:fillRect/>
              </a:stretch>
            </a:blipFill>
            <a:ln>
              <a:noFill/>
            </a:ln>
          </p:spPr>
        </p:sp>
        <p:sp>
          <p:nvSpPr>
            <p:cNvPr id="122" name="Google Shape;122;p3"/>
            <p:cNvSpPr/>
            <p:nvPr/>
          </p:nvSpPr>
          <p:spPr>
            <a:xfrm>
              <a:off x="8218996" y="0"/>
              <a:ext cx="1149503" cy="1149503"/>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6">
                <a:alphaModFix/>
              </a:blip>
              <a:stretch>
                <a:fillRect l="-52507" t="-17416" r="-56069" b="-38813"/>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23" name="Google Shape;123;p3"/>
          <p:cNvPicPr preferRelativeResize="0"/>
          <p:nvPr/>
        </p:nvPicPr>
        <p:blipFill>
          <a:blip r:embed="rId7">
            <a:alphaModFix/>
          </a:blip>
          <a:stretch>
            <a:fillRect/>
          </a:stretch>
        </p:blipFill>
        <p:spPr>
          <a:xfrm>
            <a:off x="104625" y="-90838"/>
            <a:ext cx="1499450" cy="1499450"/>
          </a:xfrm>
          <a:prstGeom prst="rect">
            <a:avLst/>
          </a:prstGeom>
          <a:noFill/>
          <a:ln>
            <a:noFill/>
          </a:ln>
        </p:spPr>
      </p:pic>
      <p:pic>
        <p:nvPicPr>
          <p:cNvPr id="11" name="Picture 10">
            <a:extLst>
              <a:ext uri="{FF2B5EF4-FFF2-40B4-BE49-F238E27FC236}">
                <a16:creationId xmlns:a16="http://schemas.microsoft.com/office/drawing/2014/main" id="{2103EE34-5C50-4681-3188-423D77D717E8}"/>
              </a:ext>
            </a:extLst>
          </p:cNvPr>
          <p:cNvPicPr>
            <a:picLocks noChangeAspect="1"/>
          </p:cNvPicPr>
          <p:nvPr/>
        </p:nvPicPr>
        <p:blipFill>
          <a:blip r:embed="rId8"/>
          <a:stretch>
            <a:fillRect/>
          </a:stretch>
        </p:blipFill>
        <p:spPr>
          <a:xfrm>
            <a:off x="10455225" y="658887"/>
            <a:ext cx="7854786" cy="850848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grpSp>
        <p:nvGrpSpPr>
          <p:cNvPr id="128" name="Google Shape;128;p4"/>
          <p:cNvGrpSpPr/>
          <p:nvPr/>
        </p:nvGrpSpPr>
        <p:grpSpPr>
          <a:xfrm rot="5400000">
            <a:off x="-637746" y="4448574"/>
            <a:ext cx="4722745" cy="1389852"/>
            <a:chOff x="0" y="-885"/>
            <a:chExt cx="6296994" cy="1853137"/>
          </a:xfrm>
        </p:grpSpPr>
        <p:sp>
          <p:nvSpPr>
            <p:cNvPr id="129" name="Google Shape;129;p4"/>
            <p:cNvSpPr/>
            <p:nvPr/>
          </p:nvSpPr>
          <p:spPr>
            <a:xfrm rot="10800000">
              <a:off x="0" y="-885"/>
              <a:ext cx="1848345" cy="1849230"/>
            </a:xfrm>
            <a:custGeom>
              <a:avLst/>
              <a:gdLst/>
              <a:ahLst/>
              <a:cxnLst/>
              <a:rect l="l" t="t" r="r" b="b"/>
              <a:pathLst>
                <a:path w="2653030" h="2654300" extrusionOk="0">
                  <a:moveTo>
                    <a:pt x="0" y="1535430"/>
                  </a:moveTo>
                  <a:lnTo>
                    <a:pt x="0" y="1463040"/>
                  </a:lnTo>
                  <a:lnTo>
                    <a:pt x="1463040" y="0"/>
                  </a:lnTo>
                  <a:lnTo>
                    <a:pt x="1535430" y="0"/>
                  </a:lnTo>
                  <a:lnTo>
                    <a:pt x="0" y="1535430"/>
                  </a:lnTo>
                  <a:close/>
                  <a:moveTo>
                    <a:pt x="1681480" y="0"/>
                  </a:moveTo>
                  <a:lnTo>
                    <a:pt x="1609090" y="0"/>
                  </a:lnTo>
                  <a:lnTo>
                    <a:pt x="0" y="1607820"/>
                  </a:lnTo>
                  <a:lnTo>
                    <a:pt x="0" y="1680210"/>
                  </a:lnTo>
                  <a:lnTo>
                    <a:pt x="1681480" y="0"/>
                  </a:lnTo>
                  <a:close/>
                  <a:moveTo>
                    <a:pt x="1390650" y="0"/>
                  </a:moveTo>
                  <a:lnTo>
                    <a:pt x="1318260" y="0"/>
                  </a:lnTo>
                  <a:lnTo>
                    <a:pt x="0" y="1318260"/>
                  </a:lnTo>
                  <a:lnTo>
                    <a:pt x="0" y="1390650"/>
                  </a:lnTo>
                  <a:lnTo>
                    <a:pt x="1390650" y="0"/>
                  </a:lnTo>
                  <a:close/>
                  <a:moveTo>
                    <a:pt x="1245870" y="0"/>
                  </a:moveTo>
                  <a:lnTo>
                    <a:pt x="1173480" y="0"/>
                  </a:lnTo>
                  <a:lnTo>
                    <a:pt x="0" y="1173480"/>
                  </a:lnTo>
                  <a:lnTo>
                    <a:pt x="0" y="1245870"/>
                  </a:lnTo>
                  <a:lnTo>
                    <a:pt x="1245870" y="0"/>
                  </a:lnTo>
                  <a:close/>
                  <a:moveTo>
                    <a:pt x="1826260" y="0"/>
                  </a:moveTo>
                  <a:lnTo>
                    <a:pt x="1753870" y="0"/>
                  </a:lnTo>
                  <a:lnTo>
                    <a:pt x="0" y="1753870"/>
                  </a:lnTo>
                  <a:lnTo>
                    <a:pt x="0" y="1826260"/>
                  </a:lnTo>
                  <a:lnTo>
                    <a:pt x="1826260" y="0"/>
                  </a:lnTo>
                  <a:close/>
                  <a:moveTo>
                    <a:pt x="2260600" y="0"/>
                  </a:moveTo>
                  <a:lnTo>
                    <a:pt x="2188210" y="0"/>
                  </a:lnTo>
                  <a:lnTo>
                    <a:pt x="0" y="2188210"/>
                  </a:lnTo>
                  <a:lnTo>
                    <a:pt x="0" y="2260600"/>
                  </a:lnTo>
                  <a:lnTo>
                    <a:pt x="2260600" y="0"/>
                  </a:lnTo>
                  <a:close/>
                  <a:moveTo>
                    <a:pt x="2551430" y="0"/>
                  </a:moveTo>
                  <a:lnTo>
                    <a:pt x="2479040" y="0"/>
                  </a:lnTo>
                  <a:lnTo>
                    <a:pt x="0" y="2479040"/>
                  </a:lnTo>
                  <a:lnTo>
                    <a:pt x="0" y="2551430"/>
                  </a:lnTo>
                  <a:lnTo>
                    <a:pt x="2551430" y="0"/>
                  </a:lnTo>
                  <a:close/>
                  <a:moveTo>
                    <a:pt x="2405380" y="0"/>
                  </a:moveTo>
                  <a:lnTo>
                    <a:pt x="2332990" y="0"/>
                  </a:lnTo>
                  <a:lnTo>
                    <a:pt x="0" y="2332990"/>
                  </a:lnTo>
                  <a:lnTo>
                    <a:pt x="0" y="2405380"/>
                  </a:lnTo>
                  <a:lnTo>
                    <a:pt x="2405380" y="0"/>
                  </a:lnTo>
                  <a:close/>
                  <a:moveTo>
                    <a:pt x="2115820" y="0"/>
                  </a:moveTo>
                  <a:lnTo>
                    <a:pt x="2043430" y="0"/>
                  </a:lnTo>
                  <a:lnTo>
                    <a:pt x="0" y="2043430"/>
                  </a:lnTo>
                  <a:lnTo>
                    <a:pt x="0" y="2115820"/>
                  </a:lnTo>
                  <a:lnTo>
                    <a:pt x="2115820" y="0"/>
                  </a:lnTo>
                  <a:close/>
                  <a:moveTo>
                    <a:pt x="375920" y="0"/>
                  </a:moveTo>
                  <a:lnTo>
                    <a:pt x="303530" y="0"/>
                  </a:lnTo>
                  <a:lnTo>
                    <a:pt x="0" y="303530"/>
                  </a:lnTo>
                  <a:lnTo>
                    <a:pt x="0" y="375920"/>
                  </a:lnTo>
                  <a:lnTo>
                    <a:pt x="375920" y="0"/>
                  </a:lnTo>
                  <a:close/>
                  <a:moveTo>
                    <a:pt x="1101090" y="0"/>
                  </a:moveTo>
                  <a:lnTo>
                    <a:pt x="1028700" y="0"/>
                  </a:lnTo>
                  <a:lnTo>
                    <a:pt x="0" y="1028700"/>
                  </a:lnTo>
                  <a:lnTo>
                    <a:pt x="0" y="1101090"/>
                  </a:lnTo>
                  <a:lnTo>
                    <a:pt x="1101090" y="0"/>
                  </a:lnTo>
                  <a:close/>
                  <a:moveTo>
                    <a:pt x="2653030" y="0"/>
                  </a:moveTo>
                  <a:lnTo>
                    <a:pt x="2623820" y="0"/>
                  </a:lnTo>
                  <a:lnTo>
                    <a:pt x="0" y="2623820"/>
                  </a:lnTo>
                  <a:lnTo>
                    <a:pt x="0" y="2653030"/>
                  </a:lnTo>
                  <a:lnTo>
                    <a:pt x="43180" y="2653030"/>
                  </a:lnTo>
                  <a:lnTo>
                    <a:pt x="2653030" y="43180"/>
                  </a:lnTo>
                  <a:lnTo>
                    <a:pt x="2653030" y="0"/>
                  </a:lnTo>
                  <a:close/>
                  <a:moveTo>
                    <a:pt x="520700" y="0"/>
                  </a:moveTo>
                  <a:lnTo>
                    <a:pt x="448310" y="0"/>
                  </a:lnTo>
                  <a:lnTo>
                    <a:pt x="0" y="448310"/>
                  </a:lnTo>
                  <a:lnTo>
                    <a:pt x="0" y="520700"/>
                  </a:lnTo>
                  <a:lnTo>
                    <a:pt x="520700" y="0"/>
                  </a:lnTo>
                  <a:close/>
                  <a:moveTo>
                    <a:pt x="85090" y="0"/>
                  </a:moveTo>
                  <a:lnTo>
                    <a:pt x="12700" y="0"/>
                  </a:lnTo>
                  <a:lnTo>
                    <a:pt x="0" y="12700"/>
                  </a:lnTo>
                  <a:lnTo>
                    <a:pt x="0" y="85090"/>
                  </a:lnTo>
                  <a:lnTo>
                    <a:pt x="85090" y="0"/>
                  </a:lnTo>
                  <a:close/>
                  <a:moveTo>
                    <a:pt x="231140" y="0"/>
                  </a:moveTo>
                  <a:lnTo>
                    <a:pt x="158750" y="0"/>
                  </a:lnTo>
                  <a:lnTo>
                    <a:pt x="0" y="157480"/>
                  </a:lnTo>
                  <a:lnTo>
                    <a:pt x="0" y="229870"/>
                  </a:lnTo>
                  <a:lnTo>
                    <a:pt x="231140" y="0"/>
                  </a:lnTo>
                  <a:close/>
                  <a:moveTo>
                    <a:pt x="0" y="956310"/>
                  </a:moveTo>
                  <a:lnTo>
                    <a:pt x="956310" y="0"/>
                  </a:lnTo>
                  <a:lnTo>
                    <a:pt x="883920" y="0"/>
                  </a:lnTo>
                  <a:lnTo>
                    <a:pt x="0" y="882650"/>
                  </a:lnTo>
                  <a:lnTo>
                    <a:pt x="0" y="956310"/>
                  </a:lnTo>
                  <a:close/>
                  <a:moveTo>
                    <a:pt x="665480" y="0"/>
                  </a:moveTo>
                  <a:lnTo>
                    <a:pt x="593090" y="0"/>
                  </a:lnTo>
                  <a:lnTo>
                    <a:pt x="0" y="593090"/>
                  </a:lnTo>
                  <a:lnTo>
                    <a:pt x="0" y="665480"/>
                  </a:lnTo>
                  <a:lnTo>
                    <a:pt x="665480" y="0"/>
                  </a:lnTo>
                  <a:close/>
                  <a:moveTo>
                    <a:pt x="810260" y="0"/>
                  </a:moveTo>
                  <a:lnTo>
                    <a:pt x="737870" y="0"/>
                  </a:lnTo>
                  <a:lnTo>
                    <a:pt x="0" y="737870"/>
                  </a:lnTo>
                  <a:lnTo>
                    <a:pt x="0" y="810260"/>
                  </a:lnTo>
                  <a:lnTo>
                    <a:pt x="810260" y="0"/>
                  </a:lnTo>
                  <a:close/>
                  <a:moveTo>
                    <a:pt x="1971040" y="0"/>
                  </a:moveTo>
                  <a:lnTo>
                    <a:pt x="1898650" y="0"/>
                  </a:lnTo>
                  <a:lnTo>
                    <a:pt x="0" y="1898650"/>
                  </a:lnTo>
                  <a:lnTo>
                    <a:pt x="0" y="1971040"/>
                  </a:lnTo>
                  <a:lnTo>
                    <a:pt x="1971040" y="0"/>
                  </a:lnTo>
                  <a:close/>
                  <a:moveTo>
                    <a:pt x="2653030" y="1783080"/>
                  </a:moveTo>
                  <a:lnTo>
                    <a:pt x="2653030" y="1710690"/>
                  </a:lnTo>
                  <a:lnTo>
                    <a:pt x="1710690" y="2653030"/>
                  </a:lnTo>
                  <a:lnTo>
                    <a:pt x="1783080" y="2653030"/>
                  </a:lnTo>
                  <a:lnTo>
                    <a:pt x="2653030" y="1783080"/>
                  </a:lnTo>
                  <a:close/>
                  <a:moveTo>
                    <a:pt x="2653030" y="1927860"/>
                  </a:moveTo>
                  <a:lnTo>
                    <a:pt x="2653030" y="1855470"/>
                  </a:lnTo>
                  <a:lnTo>
                    <a:pt x="1855470" y="2653030"/>
                  </a:lnTo>
                  <a:lnTo>
                    <a:pt x="1927860" y="2653030"/>
                  </a:lnTo>
                  <a:lnTo>
                    <a:pt x="2653030" y="1927860"/>
                  </a:lnTo>
                  <a:close/>
                  <a:moveTo>
                    <a:pt x="2653030" y="2072640"/>
                  </a:moveTo>
                  <a:lnTo>
                    <a:pt x="2653030" y="2000250"/>
                  </a:lnTo>
                  <a:lnTo>
                    <a:pt x="2000250" y="2653030"/>
                  </a:lnTo>
                  <a:lnTo>
                    <a:pt x="2072640" y="2653030"/>
                  </a:lnTo>
                  <a:lnTo>
                    <a:pt x="2653030" y="2072640"/>
                  </a:lnTo>
                  <a:close/>
                  <a:moveTo>
                    <a:pt x="2653030" y="1638300"/>
                  </a:moveTo>
                  <a:lnTo>
                    <a:pt x="2653030" y="1565910"/>
                  </a:lnTo>
                  <a:lnTo>
                    <a:pt x="1564640" y="2654300"/>
                  </a:lnTo>
                  <a:lnTo>
                    <a:pt x="1637030" y="2654300"/>
                  </a:lnTo>
                  <a:lnTo>
                    <a:pt x="2653030" y="1638300"/>
                  </a:lnTo>
                  <a:close/>
                  <a:moveTo>
                    <a:pt x="2217420" y="2653030"/>
                  </a:moveTo>
                  <a:lnTo>
                    <a:pt x="2653030" y="2217420"/>
                  </a:lnTo>
                  <a:lnTo>
                    <a:pt x="2653030" y="2145030"/>
                  </a:lnTo>
                  <a:lnTo>
                    <a:pt x="2145030" y="2653030"/>
                  </a:lnTo>
                  <a:lnTo>
                    <a:pt x="2217420" y="2653030"/>
                  </a:lnTo>
                  <a:close/>
                  <a:moveTo>
                    <a:pt x="2653030" y="2580640"/>
                  </a:moveTo>
                  <a:lnTo>
                    <a:pt x="2580640" y="2653030"/>
                  </a:lnTo>
                  <a:lnTo>
                    <a:pt x="2653030" y="2653030"/>
                  </a:lnTo>
                  <a:lnTo>
                    <a:pt x="2653030" y="2580640"/>
                  </a:lnTo>
                  <a:close/>
                  <a:moveTo>
                    <a:pt x="2653030" y="2508250"/>
                  </a:moveTo>
                  <a:lnTo>
                    <a:pt x="2653030" y="2435860"/>
                  </a:lnTo>
                  <a:lnTo>
                    <a:pt x="2435860" y="2653030"/>
                  </a:lnTo>
                  <a:lnTo>
                    <a:pt x="2508250" y="2653030"/>
                  </a:lnTo>
                  <a:lnTo>
                    <a:pt x="2653030" y="2508250"/>
                  </a:lnTo>
                  <a:close/>
                  <a:moveTo>
                    <a:pt x="2653030" y="2363470"/>
                  </a:moveTo>
                  <a:lnTo>
                    <a:pt x="2653030" y="2291080"/>
                  </a:lnTo>
                  <a:lnTo>
                    <a:pt x="2291080" y="2653030"/>
                  </a:lnTo>
                  <a:lnTo>
                    <a:pt x="2363470" y="2653030"/>
                  </a:lnTo>
                  <a:lnTo>
                    <a:pt x="2653030" y="2363470"/>
                  </a:lnTo>
                  <a:close/>
                  <a:moveTo>
                    <a:pt x="2653030" y="1492250"/>
                  </a:moveTo>
                  <a:lnTo>
                    <a:pt x="2653030" y="1419860"/>
                  </a:lnTo>
                  <a:lnTo>
                    <a:pt x="1419860" y="2653030"/>
                  </a:lnTo>
                  <a:lnTo>
                    <a:pt x="1492250" y="2653030"/>
                  </a:lnTo>
                  <a:lnTo>
                    <a:pt x="2653030" y="1492250"/>
                  </a:lnTo>
                  <a:close/>
                  <a:moveTo>
                    <a:pt x="2653030" y="187960"/>
                  </a:moveTo>
                  <a:lnTo>
                    <a:pt x="2653030" y="115570"/>
                  </a:lnTo>
                  <a:lnTo>
                    <a:pt x="115570" y="2653030"/>
                  </a:lnTo>
                  <a:lnTo>
                    <a:pt x="187960" y="2653030"/>
                  </a:lnTo>
                  <a:lnTo>
                    <a:pt x="2653030" y="187960"/>
                  </a:lnTo>
                  <a:close/>
                  <a:moveTo>
                    <a:pt x="2653030" y="622300"/>
                  </a:moveTo>
                  <a:lnTo>
                    <a:pt x="2653030" y="549910"/>
                  </a:lnTo>
                  <a:lnTo>
                    <a:pt x="549910" y="2653030"/>
                  </a:lnTo>
                  <a:lnTo>
                    <a:pt x="622300" y="2653030"/>
                  </a:lnTo>
                  <a:lnTo>
                    <a:pt x="2653030" y="622300"/>
                  </a:lnTo>
                  <a:close/>
                  <a:moveTo>
                    <a:pt x="2653030" y="477520"/>
                  </a:moveTo>
                  <a:lnTo>
                    <a:pt x="2653030" y="405130"/>
                  </a:lnTo>
                  <a:lnTo>
                    <a:pt x="405130" y="2653030"/>
                  </a:lnTo>
                  <a:lnTo>
                    <a:pt x="477520" y="2653030"/>
                  </a:lnTo>
                  <a:lnTo>
                    <a:pt x="2653030" y="477520"/>
                  </a:lnTo>
                  <a:close/>
                  <a:moveTo>
                    <a:pt x="2653030" y="1347470"/>
                  </a:moveTo>
                  <a:lnTo>
                    <a:pt x="2653030" y="1275080"/>
                  </a:lnTo>
                  <a:lnTo>
                    <a:pt x="1275080" y="2653030"/>
                  </a:lnTo>
                  <a:lnTo>
                    <a:pt x="1347470" y="2653030"/>
                  </a:lnTo>
                  <a:lnTo>
                    <a:pt x="2653030" y="1347470"/>
                  </a:lnTo>
                  <a:close/>
                  <a:moveTo>
                    <a:pt x="2653030" y="767080"/>
                  </a:moveTo>
                  <a:lnTo>
                    <a:pt x="2653030" y="694690"/>
                  </a:lnTo>
                  <a:lnTo>
                    <a:pt x="694690" y="2653030"/>
                  </a:lnTo>
                  <a:lnTo>
                    <a:pt x="767080" y="2653030"/>
                  </a:lnTo>
                  <a:lnTo>
                    <a:pt x="2653030" y="767080"/>
                  </a:lnTo>
                  <a:close/>
                  <a:moveTo>
                    <a:pt x="2653030" y="332740"/>
                  </a:moveTo>
                  <a:lnTo>
                    <a:pt x="2653030" y="260350"/>
                  </a:lnTo>
                  <a:lnTo>
                    <a:pt x="260350" y="2653030"/>
                  </a:lnTo>
                  <a:lnTo>
                    <a:pt x="332740" y="2653030"/>
                  </a:lnTo>
                  <a:lnTo>
                    <a:pt x="2653030" y="332740"/>
                  </a:lnTo>
                  <a:close/>
                  <a:moveTo>
                    <a:pt x="2653030" y="1202690"/>
                  </a:moveTo>
                  <a:lnTo>
                    <a:pt x="2653030" y="1130300"/>
                  </a:lnTo>
                  <a:lnTo>
                    <a:pt x="1130300" y="2653030"/>
                  </a:lnTo>
                  <a:lnTo>
                    <a:pt x="1202690" y="2653030"/>
                  </a:lnTo>
                  <a:lnTo>
                    <a:pt x="2653030" y="1202690"/>
                  </a:lnTo>
                  <a:close/>
                  <a:moveTo>
                    <a:pt x="2653030" y="913130"/>
                  </a:moveTo>
                  <a:lnTo>
                    <a:pt x="2653030" y="840740"/>
                  </a:lnTo>
                  <a:lnTo>
                    <a:pt x="840740" y="2653030"/>
                  </a:lnTo>
                  <a:lnTo>
                    <a:pt x="913130" y="2653030"/>
                  </a:lnTo>
                  <a:lnTo>
                    <a:pt x="2653030" y="913130"/>
                  </a:lnTo>
                  <a:close/>
                  <a:moveTo>
                    <a:pt x="2653030" y="1057910"/>
                  </a:moveTo>
                  <a:lnTo>
                    <a:pt x="2653030" y="985520"/>
                  </a:lnTo>
                  <a:lnTo>
                    <a:pt x="985520" y="2653030"/>
                  </a:lnTo>
                  <a:lnTo>
                    <a:pt x="1057910" y="2653030"/>
                  </a:lnTo>
                  <a:lnTo>
                    <a:pt x="2653030" y="1057910"/>
                  </a:lnTo>
                  <a:close/>
                </a:path>
              </a:pathLst>
            </a:custGeom>
            <a:solidFill>
              <a:srgbClr val="04106D"/>
            </a:solidFill>
            <a:ln>
              <a:noFill/>
            </a:ln>
          </p:spPr>
        </p:sp>
        <p:sp>
          <p:nvSpPr>
            <p:cNvPr id="130" name="Google Shape;130;p4"/>
            <p:cNvSpPr/>
            <p:nvPr/>
          </p:nvSpPr>
          <p:spPr>
            <a:xfrm rot="10800000">
              <a:off x="4448649" y="7814"/>
              <a:ext cx="1848345" cy="1840531"/>
            </a:xfrm>
            <a:prstGeom prst="rect">
              <a:avLst/>
            </a:prstGeom>
            <a:solidFill>
              <a:srgbClr val="0410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4"/>
            <p:cNvSpPr/>
            <p:nvPr/>
          </p:nvSpPr>
          <p:spPr>
            <a:xfrm rot="10800000">
              <a:off x="2225695" y="3907"/>
              <a:ext cx="1846974" cy="1848345"/>
            </a:xfrm>
            <a:custGeom>
              <a:avLst/>
              <a:gdLst/>
              <a:ahLst/>
              <a:cxnLst/>
              <a:rect l="l" t="t" r="r" b="b"/>
              <a:pathLst>
                <a:path w="1706883" h="1708150" extrusionOk="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0410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 name="Google Shape;132;p4"/>
          <p:cNvGrpSpPr/>
          <p:nvPr/>
        </p:nvGrpSpPr>
        <p:grpSpPr>
          <a:xfrm>
            <a:off x="2913371" y="1408612"/>
            <a:ext cx="13557150" cy="7519117"/>
            <a:chOff x="0" y="-76200"/>
            <a:chExt cx="18076200" cy="8939585"/>
          </a:xfrm>
        </p:grpSpPr>
        <p:sp>
          <p:nvSpPr>
            <p:cNvPr id="133" name="Google Shape;133;p4"/>
            <p:cNvSpPr txBox="1"/>
            <p:nvPr/>
          </p:nvSpPr>
          <p:spPr>
            <a:xfrm>
              <a:off x="0" y="-76200"/>
              <a:ext cx="18076200" cy="86177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200" b="1" dirty="0">
                  <a:solidFill>
                    <a:srgbClr val="021852"/>
                  </a:solidFill>
                </a:rPr>
                <a:t>FEASIBILITY AND VIABILITY</a:t>
              </a:r>
              <a:endParaRPr sz="4200" b="1" dirty="0"/>
            </a:p>
          </p:txBody>
        </p:sp>
        <p:sp>
          <p:nvSpPr>
            <p:cNvPr id="134" name="Google Shape;134;p4"/>
            <p:cNvSpPr txBox="1"/>
            <p:nvPr/>
          </p:nvSpPr>
          <p:spPr>
            <a:xfrm>
              <a:off x="0" y="1618171"/>
              <a:ext cx="17722439" cy="7245214"/>
            </a:xfrm>
            <a:prstGeom prst="rect">
              <a:avLst/>
            </a:prstGeom>
            <a:noFill/>
            <a:ln>
              <a:noFill/>
            </a:ln>
          </p:spPr>
          <p:txBody>
            <a:bodyPr spcFirstLastPara="1" wrap="square" lIns="0" tIns="0" rIns="0" bIns="0" anchor="t" anchorCtr="0">
              <a:spAutoFit/>
            </a:bodyPr>
            <a:lstStyle/>
            <a:p>
              <a:r>
                <a:rPr lang="en-US" sz="2200" dirty="0">
                  <a:solidFill>
                    <a:srgbClr val="002060"/>
                  </a:solidFill>
                </a:rPr>
                <a:t>Feasibility of the Idea</a:t>
              </a:r>
            </a:p>
            <a:p>
              <a:pPr marL="342900" indent="-342900">
                <a:buFont typeface="Arial" panose="020B0604020202020204" pitchFamily="34" charset="0"/>
                <a:buChar char="•"/>
              </a:pPr>
              <a:r>
                <a:rPr lang="en-US" sz="2200" dirty="0"/>
                <a:t>Uses OSINT to collect public identity fragments.</a:t>
              </a:r>
            </a:p>
            <a:p>
              <a:pPr marL="342900" indent="-342900">
                <a:buFont typeface="Arial" panose="020B0604020202020204" pitchFamily="34" charset="0"/>
                <a:buChar char="•"/>
              </a:pPr>
              <a:r>
                <a:rPr lang="en-US" sz="2200" dirty="0"/>
                <a:t>Integrates APIs like </a:t>
              </a:r>
              <a:r>
                <a:rPr lang="en-US" sz="2200" dirty="0" err="1"/>
                <a:t>XposedOrNot</a:t>
              </a:r>
              <a:r>
                <a:rPr lang="en-US" sz="2200" dirty="0"/>
                <a:t> and GitHub API.</a:t>
              </a:r>
            </a:p>
            <a:p>
              <a:pPr marL="342900" indent="-342900">
                <a:buFont typeface="Arial" panose="020B0604020202020204" pitchFamily="34" charset="0"/>
                <a:buChar char="•"/>
              </a:pPr>
              <a:r>
                <a:rPr lang="en-US" sz="2200" dirty="0"/>
                <a:t>Built using React, </a:t>
              </a:r>
              <a:r>
                <a:rPr lang="en-US" sz="2200" dirty="0" err="1"/>
                <a:t>FastAPI</a:t>
              </a:r>
              <a:r>
                <a:rPr lang="en-US" sz="2200" dirty="0"/>
                <a:t>/Python, and graph visualization tools.</a:t>
              </a:r>
            </a:p>
            <a:p>
              <a:pPr marL="342900" indent="-342900">
                <a:buFont typeface="Arial" panose="020B0604020202020204" pitchFamily="34" charset="0"/>
                <a:buChar char="•"/>
              </a:pPr>
              <a:r>
                <a:rPr lang="en-US" sz="2200" dirty="0"/>
                <a:t>Prototype targets limited platforms with basic risk scoring.</a:t>
              </a:r>
            </a:p>
            <a:p>
              <a:endParaRPr lang="en-US" sz="2200" dirty="0"/>
            </a:p>
            <a:p>
              <a:r>
                <a:rPr lang="en-US" sz="2200" dirty="0">
                  <a:solidFill>
                    <a:srgbClr val="002060"/>
                  </a:solidFill>
                </a:rPr>
                <a:t>Potential Challenges &amp; Risks</a:t>
              </a:r>
            </a:p>
            <a:p>
              <a:pPr marL="342900" indent="-342900">
                <a:buFont typeface="Arial" panose="020B0604020202020204" pitchFamily="34" charset="0"/>
                <a:buChar char="•"/>
              </a:pPr>
              <a:r>
                <a:rPr lang="en-US" sz="2200" dirty="0"/>
                <a:t>API rate limits.</a:t>
              </a:r>
            </a:p>
            <a:p>
              <a:pPr marL="342900" indent="-342900">
                <a:buFont typeface="Arial" panose="020B0604020202020204" pitchFamily="34" charset="0"/>
                <a:buChar char="•"/>
              </a:pPr>
              <a:r>
                <a:rPr lang="en-US" sz="2200" dirty="0"/>
                <a:t>False matches from similar usernames.</a:t>
              </a:r>
            </a:p>
            <a:p>
              <a:pPr marL="342900" indent="-342900">
                <a:buFont typeface="Arial" panose="020B0604020202020204" pitchFamily="34" charset="0"/>
                <a:buChar char="•"/>
              </a:pPr>
              <a:r>
                <a:rPr lang="en-US" sz="2200" dirty="0"/>
                <a:t>Privacy concerns.</a:t>
              </a:r>
            </a:p>
            <a:p>
              <a:pPr marL="342900" indent="-342900">
                <a:buFont typeface="Arial" panose="020B0604020202020204" pitchFamily="34" charset="0"/>
                <a:buChar char="•"/>
              </a:pPr>
              <a:r>
                <a:rPr lang="en-US" sz="2200" dirty="0"/>
                <a:t>Incomplete OSINT data.</a:t>
              </a:r>
            </a:p>
            <a:p>
              <a:endParaRPr lang="en-US" sz="2200" dirty="0"/>
            </a:p>
            <a:p>
              <a:r>
                <a:rPr lang="en-US" sz="2200" dirty="0">
                  <a:solidFill>
                    <a:srgbClr val="002060"/>
                  </a:solidFill>
                </a:rPr>
                <a:t>Strategies to Overcome Challenges</a:t>
              </a:r>
            </a:p>
            <a:p>
              <a:pPr marL="342900" indent="-342900">
                <a:buFont typeface="Arial" panose="020B0604020202020204" pitchFamily="34" charset="0"/>
                <a:buChar char="•"/>
              </a:pPr>
              <a:r>
                <a:rPr lang="en-US" sz="2200" dirty="0"/>
                <a:t>Use official APIs.</a:t>
              </a:r>
            </a:p>
            <a:p>
              <a:pPr marL="342900" indent="-342900">
                <a:buFont typeface="Arial" panose="020B0604020202020204" pitchFamily="34" charset="0"/>
                <a:buChar char="•"/>
              </a:pPr>
              <a:r>
                <a:rPr lang="en-US" sz="2200" dirty="0"/>
                <a:t>Apply similarity matching for identity correlation.</a:t>
              </a:r>
            </a:p>
            <a:p>
              <a:pPr marL="342900" indent="-342900">
                <a:buFont typeface="Arial" panose="020B0604020202020204" pitchFamily="34" charset="0"/>
                <a:buChar char="•"/>
              </a:pPr>
              <a:r>
                <a:rPr lang="en-US" sz="2200" dirty="0"/>
                <a:t>Process only public data.</a:t>
              </a:r>
            </a:p>
            <a:p>
              <a:pPr marL="342900" indent="-342900">
                <a:buFont typeface="Arial" panose="020B0604020202020204" pitchFamily="34" charset="0"/>
                <a:buChar char="•"/>
              </a:pPr>
              <a:r>
                <a:rPr lang="en-US" sz="2200" dirty="0"/>
                <a:t>Use confidence scoring and optimized API calls.</a:t>
              </a:r>
            </a:p>
            <a:p>
              <a:pPr marL="50800" lvl="0">
                <a:buSzPts val="2800"/>
              </a:pPr>
              <a:endParaRPr sz="2200" dirty="0"/>
            </a:p>
          </p:txBody>
        </p:sp>
        <p:sp>
          <p:nvSpPr>
            <p:cNvPr id="135" name="Google Shape;135;p4"/>
            <p:cNvSpPr/>
            <p:nvPr/>
          </p:nvSpPr>
          <p:spPr>
            <a:xfrm>
              <a:off x="0" y="1012868"/>
              <a:ext cx="1324627" cy="223120"/>
            </a:xfrm>
            <a:prstGeom prst="rect">
              <a:avLst/>
            </a:prstGeom>
            <a:solidFill>
              <a:srgbClr val="0410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6" name="Google Shape;136;p4"/>
          <p:cNvSpPr/>
          <p:nvPr/>
        </p:nvSpPr>
        <p:spPr>
          <a:xfrm>
            <a:off x="16470521" y="0"/>
            <a:ext cx="1817479" cy="1817471"/>
          </a:xfrm>
          <a:custGeom>
            <a:avLst/>
            <a:gdLst/>
            <a:ahLst/>
            <a:cxnLst/>
            <a:rect l="l" t="t" r="r" b="b"/>
            <a:pathLst>
              <a:path w="6350000" h="6349975" extrusionOk="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rotWithShape="1">
            <a:blip r:embed="rId3">
              <a:alphaModFix/>
            </a:blip>
            <a:stretch>
              <a:fillRect l="-121573" r="-121573"/>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7" name="Google Shape;137;p4"/>
          <p:cNvGrpSpPr/>
          <p:nvPr/>
        </p:nvGrpSpPr>
        <p:grpSpPr>
          <a:xfrm>
            <a:off x="1824743" y="227833"/>
            <a:ext cx="7026374" cy="862128"/>
            <a:chOff x="0" y="0"/>
            <a:chExt cx="9368499" cy="1149503"/>
          </a:xfrm>
        </p:grpSpPr>
        <p:sp>
          <p:nvSpPr>
            <p:cNvPr id="138" name="Google Shape;138;p4"/>
            <p:cNvSpPr/>
            <p:nvPr/>
          </p:nvSpPr>
          <p:spPr>
            <a:xfrm>
              <a:off x="0" y="77633"/>
              <a:ext cx="4299406" cy="994238"/>
            </a:xfrm>
            <a:custGeom>
              <a:avLst/>
              <a:gdLst/>
              <a:ahLst/>
              <a:cxnLst/>
              <a:rect l="l" t="t" r="r" b="b"/>
              <a:pathLst>
                <a:path w="4299406" h="994238" extrusionOk="0">
                  <a:moveTo>
                    <a:pt x="0" y="0"/>
                  </a:moveTo>
                  <a:lnTo>
                    <a:pt x="4299406" y="0"/>
                  </a:lnTo>
                  <a:lnTo>
                    <a:pt x="4299406" y="994238"/>
                  </a:lnTo>
                  <a:lnTo>
                    <a:pt x="0" y="994238"/>
                  </a:lnTo>
                  <a:lnTo>
                    <a:pt x="0" y="0"/>
                  </a:lnTo>
                  <a:close/>
                </a:path>
              </a:pathLst>
            </a:custGeom>
            <a:blipFill rotWithShape="1">
              <a:blip r:embed="rId4">
                <a:alphaModFix/>
              </a:blip>
              <a:stretch>
                <a:fillRect/>
              </a:stretch>
            </a:blipFill>
            <a:ln>
              <a:noFill/>
            </a:ln>
          </p:spPr>
        </p:sp>
        <p:sp>
          <p:nvSpPr>
            <p:cNvPr id="139" name="Google Shape;139;p4"/>
            <p:cNvSpPr/>
            <p:nvPr/>
          </p:nvSpPr>
          <p:spPr>
            <a:xfrm>
              <a:off x="4708205" y="61730"/>
              <a:ext cx="3101992" cy="1026044"/>
            </a:xfrm>
            <a:custGeom>
              <a:avLst/>
              <a:gdLst/>
              <a:ahLst/>
              <a:cxnLst/>
              <a:rect l="l" t="t" r="r" b="b"/>
              <a:pathLst>
                <a:path w="3101992" h="1026044" extrusionOk="0">
                  <a:moveTo>
                    <a:pt x="0" y="0"/>
                  </a:moveTo>
                  <a:lnTo>
                    <a:pt x="3101992" y="0"/>
                  </a:lnTo>
                  <a:lnTo>
                    <a:pt x="3101992" y="1026043"/>
                  </a:lnTo>
                  <a:lnTo>
                    <a:pt x="0" y="1026043"/>
                  </a:lnTo>
                  <a:lnTo>
                    <a:pt x="0" y="0"/>
                  </a:lnTo>
                  <a:close/>
                </a:path>
              </a:pathLst>
            </a:custGeom>
            <a:blipFill rotWithShape="1">
              <a:blip r:embed="rId5">
                <a:alphaModFix/>
              </a:blip>
              <a:stretch>
                <a:fillRect/>
              </a:stretch>
            </a:blipFill>
            <a:ln>
              <a:noFill/>
            </a:ln>
          </p:spPr>
        </p:sp>
        <p:sp>
          <p:nvSpPr>
            <p:cNvPr id="140" name="Google Shape;140;p4"/>
            <p:cNvSpPr/>
            <p:nvPr/>
          </p:nvSpPr>
          <p:spPr>
            <a:xfrm>
              <a:off x="8218996" y="0"/>
              <a:ext cx="1149503" cy="1149503"/>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6">
                <a:alphaModFix/>
              </a:blip>
              <a:stretch>
                <a:fillRect l="-52507" t="-17416" r="-56069" b="-38813"/>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41" name="Google Shape;141;p4"/>
          <p:cNvPicPr preferRelativeResize="0"/>
          <p:nvPr/>
        </p:nvPicPr>
        <p:blipFill>
          <a:blip r:embed="rId7">
            <a:alphaModFix/>
          </a:blip>
          <a:stretch>
            <a:fillRect/>
          </a:stretch>
        </p:blipFill>
        <p:spPr>
          <a:xfrm>
            <a:off x="104625" y="-90838"/>
            <a:ext cx="1499450" cy="1499450"/>
          </a:xfrm>
          <a:prstGeom prst="rect">
            <a:avLst/>
          </a:prstGeom>
          <a:noFill/>
          <a:ln>
            <a:noFill/>
          </a:ln>
        </p:spPr>
      </p:pic>
      <p:pic>
        <p:nvPicPr>
          <p:cNvPr id="7" name="Picture 6">
            <a:extLst>
              <a:ext uri="{FF2B5EF4-FFF2-40B4-BE49-F238E27FC236}">
                <a16:creationId xmlns:a16="http://schemas.microsoft.com/office/drawing/2014/main" id="{0875F028-6CC7-89E4-BC1C-90C874985F0F}"/>
              </a:ext>
            </a:extLst>
          </p:cNvPr>
          <p:cNvPicPr>
            <a:picLocks noChangeAspect="1"/>
          </p:cNvPicPr>
          <p:nvPr/>
        </p:nvPicPr>
        <p:blipFill>
          <a:blip r:embed="rId8"/>
          <a:stretch>
            <a:fillRect/>
          </a:stretch>
        </p:blipFill>
        <p:spPr>
          <a:xfrm>
            <a:off x="12962973" y="1543099"/>
            <a:ext cx="2171700" cy="2171700"/>
          </a:xfrm>
          <a:prstGeom prst="rect">
            <a:avLst/>
          </a:prstGeom>
        </p:spPr>
      </p:pic>
      <p:pic>
        <p:nvPicPr>
          <p:cNvPr id="11" name="Picture 10">
            <a:extLst>
              <a:ext uri="{FF2B5EF4-FFF2-40B4-BE49-F238E27FC236}">
                <a16:creationId xmlns:a16="http://schemas.microsoft.com/office/drawing/2014/main" id="{F42608B6-8373-7EEF-02C3-AEA863C90514}"/>
              </a:ext>
            </a:extLst>
          </p:cNvPr>
          <p:cNvPicPr>
            <a:picLocks noChangeAspect="1"/>
          </p:cNvPicPr>
          <p:nvPr/>
        </p:nvPicPr>
        <p:blipFill>
          <a:blip r:embed="rId9"/>
          <a:stretch>
            <a:fillRect/>
          </a:stretch>
        </p:blipFill>
        <p:spPr>
          <a:xfrm>
            <a:off x="13202929" y="4057650"/>
            <a:ext cx="2171700" cy="2171700"/>
          </a:xfrm>
          <a:prstGeom prst="rect">
            <a:avLst/>
          </a:prstGeom>
        </p:spPr>
      </p:pic>
      <p:pic>
        <p:nvPicPr>
          <p:cNvPr id="13" name="Picture 12">
            <a:extLst>
              <a:ext uri="{FF2B5EF4-FFF2-40B4-BE49-F238E27FC236}">
                <a16:creationId xmlns:a16="http://schemas.microsoft.com/office/drawing/2014/main" id="{5787B05A-C37E-F947-C947-9316009BECF3}"/>
              </a:ext>
            </a:extLst>
          </p:cNvPr>
          <p:cNvPicPr>
            <a:picLocks noChangeAspect="1"/>
          </p:cNvPicPr>
          <p:nvPr/>
        </p:nvPicPr>
        <p:blipFill>
          <a:blip r:embed="rId10"/>
          <a:stretch>
            <a:fillRect/>
          </a:stretch>
        </p:blipFill>
        <p:spPr>
          <a:xfrm>
            <a:off x="12962973" y="6572201"/>
            <a:ext cx="2171700" cy="21717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grpSp>
        <p:nvGrpSpPr>
          <p:cNvPr id="146" name="Google Shape;146;p5"/>
          <p:cNvGrpSpPr/>
          <p:nvPr/>
        </p:nvGrpSpPr>
        <p:grpSpPr>
          <a:xfrm>
            <a:off x="9436885" y="1251931"/>
            <a:ext cx="7289015" cy="2121397"/>
            <a:chOff x="-39920" y="894524"/>
            <a:chExt cx="11179230" cy="2828529"/>
          </a:xfrm>
        </p:grpSpPr>
        <p:sp>
          <p:nvSpPr>
            <p:cNvPr id="147" name="Google Shape;147;p5"/>
            <p:cNvSpPr txBox="1"/>
            <p:nvPr/>
          </p:nvSpPr>
          <p:spPr>
            <a:xfrm>
              <a:off x="-39920" y="894524"/>
              <a:ext cx="10356901" cy="22570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5500" b="1" dirty="0">
                  <a:solidFill>
                    <a:srgbClr val="021852"/>
                  </a:solidFill>
                </a:rPr>
                <a:t>IMPACT AND BENEFITS</a:t>
              </a:r>
              <a:endParaRPr sz="5500" b="1" dirty="0"/>
            </a:p>
          </p:txBody>
        </p:sp>
        <p:cxnSp>
          <p:nvCxnSpPr>
            <p:cNvPr id="149" name="Google Shape;149;p5"/>
            <p:cNvCxnSpPr/>
            <p:nvPr/>
          </p:nvCxnSpPr>
          <p:spPr>
            <a:xfrm>
              <a:off x="-39920" y="3723053"/>
              <a:ext cx="11179230" cy="0"/>
            </a:xfrm>
            <a:prstGeom prst="straightConnector1">
              <a:avLst/>
            </a:prstGeom>
            <a:noFill/>
            <a:ln w="139700" cap="flat" cmpd="sng">
              <a:solidFill>
                <a:srgbClr val="04106D"/>
              </a:solidFill>
              <a:prstDash val="solid"/>
              <a:round/>
              <a:headEnd type="none" w="sm" len="sm"/>
              <a:tailEnd type="none" w="sm" len="sm"/>
            </a:ln>
          </p:spPr>
        </p:cxnSp>
      </p:grpSp>
      <p:sp>
        <p:nvSpPr>
          <p:cNvPr id="150" name="Google Shape;150;p5"/>
          <p:cNvSpPr/>
          <p:nvPr/>
        </p:nvSpPr>
        <p:spPr>
          <a:xfrm>
            <a:off x="16470521" y="0"/>
            <a:ext cx="1817479" cy="1817471"/>
          </a:xfrm>
          <a:custGeom>
            <a:avLst/>
            <a:gdLst/>
            <a:ahLst/>
            <a:cxnLst/>
            <a:rect l="l" t="t" r="r" b="b"/>
            <a:pathLst>
              <a:path w="6350000" h="6349975" extrusionOk="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rotWithShape="1">
            <a:blip r:embed="rId3">
              <a:alphaModFix/>
            </a:blip>
            <a:stretch>
              <a:fillRect l="-121573" r="-121573"/>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1" name="Google Shape;151;p5"/>
          <p:cNvGrpSpPr/>
          <p:nvPr/>
        </p:nvGrpSpPr>
        <p:grpSpPr>
          <a:xfrm>
            <a:off x="1824743" y="227833"/>
            <a:ext cx="7026374" cy="862128"/>
            <a:chOff x="0" y="0"/>
            <a:chExt cx="9368499" cy="1149503"/>
          </a:xfrm>
        </p:grpSpPr>
        <p:sp>
          <p:nvSpPr>
            <p:cNvPr id="152" name="Google Shape;152;p5"/>
            <p:cNvSpPr/>
            <p:nvPr/>
          </p:nvSpPr>
          <p:spPr>
            <a:xfrm>
              <a:off x="0" y="77633"/>
              <a:ext cx="4299406" cy="994238"/>
            </a:xfrm>
            <a:custGeom>
              <a:avLst/>
              <a:gdLst/>
              <a:ahLst/>
              <a:cxnLst/>
              <a:rect l="l" t="t" r="r" b="b"/>
              <a:pathLst>
                <a:path w="4299406" h="994238" extrusionOk="0">
                  <a:moveTo>
                    <a:pt x="0" y="0"/>
                  </a:moveTo>
                  <a:lnTo>
                    <a:pt x="4299406" y="0"/>
                  </a:lnTo>
                  <a:lnTo>
                    <a:pt x="4299406" y="994238"/>
                  </a:lnTo>
                  <a:lnTo>
                    <a:pt x="0" y="994238"/>
                  </a:lnTo>
                  <a:lnTo>
                    <a:pt x="0" y="0"/>
                  </a:lnTo>
                  <a:close/>
                </a:path>
              </a:pathLst>
            </a:custGeom>
            <a:blipFill rotWithShape="1">
              <a:blip r:embed="rId4">
                <a:alphaModFix/>
              </a:blip>
              <a:stretch>
                <a:fillRect/>
              </a:stretch>
            </a:blipFill>
            <a:ln>
              <a:noFill/>
            </a:ln>
          </p:spPr>
        </p:sp>
        <p:sp>
          <p:nvSpPr>
            <p:cNvPr id="153" name="Google Shape;153;p5"/>
            <p:cNvSpPr/>
            <p:nvPr/>
          </p:nvSpPr>
          <p:spPr>
            <a:xfrm>
              <a:off x="4708205" y="61730"/>
              <a:ext cx="3101992" cy="1026044"/>
            </a:xfrm>
            <a:custGeom>
              <a:avLst/>
              <a:gdLst/>
              <a:ahLst/>
              <a:cxnLst/>
              <a:rect l="l" t="t" r="r" b="b"/>
              <a:pathLst>
                <a:path w="3101992" h="1026044" extrusionOk="0">
                  <a:moveTo>
                    <a:pt x="0" y="0"/>
                  </a:moveTo>
                  <a:lnTo>
                    <a:pt x="3101992" y="0"/>
                  </a:lnTo>
                  <a:lnTo>
                    <a:pt x="3101992" y="1026043"/>
                  </a:lnTo>
                  <a:lnTo>
                    <a:pt x="0" y="1026043"/>
                  </a:lnTo>
                  <a:lnTo>
                    <a:pt x="0" y="0"/>
                  </a:lnTo>
                  <a:close/>
                </a:path>
              </a:pathLst>
            </a:custGeom>
            <a:blipFill rotWithShape="1">
              <a:blip r:embed="rId5">
                <a:alphaModFix/>
              </a:blip>
              <a:stretch>
                <a:fillRect/>
              </a:stretch>
            </a:blipFill>
            <a:ln>
              <a:noFill/>
            </a:ln>
          </p:spPr>
        </p:sp>
        <p:sp>
          <p:nvSpPr>
            <p:cNvPr id="154" name="Google Shape;154;p5"/>
            <p:cNvSpPr/>
            <p:nvPr/>
          </p:nvSpPr>
          <p:spPr>
            <a:xfrm>
              <a:off x="8218996" y="0"/>
              <a:ext cx="1149503" cy="1149503"/>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6">
                <a:alphaModFix/>
              </a:blip>
              <a:stretch>
                <a:fillRect l="-52507" t="-17416" r="-56069" b="-38813"/>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5" name="Google Shape;155;p5"/>
          <p:cNvPicPr preferRelativeResize="0"/>
          <p:nvPr/>
        </p:nvPicPr>
        <p:blipFill>
          <a:blip r:embed="rId7">
            <a:alphaModFix/>
          </a:blip>
          <a:stretch>
            <a:fillRect/>
          </a:stretch>
        </p:blipFill>
        <p:spPr>
          <a:xfrm>
            <a:off x="104625" y="-90838"/>
            <a:ext cx="1499450" cy="1499450"/>
          </a:xfrm>
          <a:prstGeom prst="rect">
            <a:avLst/>
          </a:prstGeom>
          <a:noFill/>
          <a:ln>
            <a:noFill/>
          </a:ln>
        </p:spPr>
      </p:pic>
      <p:sp>
        <p:nvSpPr>
          <p:cNvPr id="2" name="TextBox 1">
            <a:extLst>
              <a:ext uri="{FF2B5EF4-FFF2-40B4-BE49-F238E27FC236}">
                <a16:creationId xmlns:a16="http://schemas.microsoft.com/office/drawing/2014/main" id="{C4727630-28FF-2D18-C492-35DA2770A406}"/>
              </a:ext>
            </a:extLst>
          </p:cNvPr>
          <p:cNvSpPr txBox="1"/>
          <p:nvPr/>
        </p:nvSpPr>
        <p:spPr>
          <a:xfrm>
            <a:off x="9436885" y="3967056"/>
            <a:ext cx="6819900" cy="4154984"/>
          </a:xfrm>
          <a:prstGeom prst="rect">
            <a:avLst/>
          </a:prstGeom>
          <a:noFill/>
        </p:spPr>
        <p:txBody>
          <a:bodyPr wrap="square" rtlCol="0">
            <a:spAutoFit/>
          </a:bodyPr>
          <a:lstStyle/>
          <a:p>
            <a:r>
              <a:rPr lang="en-US" sz="2400" b="1" dirty="0">
                <a:solidFill>
                  <a:srgbClr val="002060"/>
                </a:solidFill>
              </a:rPr>
              <a:t>Potential Impact on Target Audience</a:t>
            </a:r>
            <a:endParaRPr lang="en-US" sz="2400" dirty="0">
              <a:solidFill>
                <a:srgbClr val="002060"/>
              </a:solidFill>
            </a:endParaRPr>
          </a:p>
          <a:p>
            <a:r>
              <a:rPr lang="en-US" sz="2400" dirty="0"/>
              <a:t>Helps users </a:t>
            </a:r>
            <a:r>
              <a:rPr lang="en-US" sz="2400" b="1" dirty="0"/>
              <a:t>monitor and understand their digital identity exposure</a:t>
            </a:r>
            <a:r>
              <a:rPr lang="en-US" sz="2400" dirty="0"/>
              <a:t> online.</a:t>
            </a:r>
          </a:p>
          <a:p>
            <a:r>
              <a:rPr lang="en-US" sz="2400" dirty="0"/>
              <a:t>Supports </a:t>
            </a:r>
            <a:r>
              <a:rPr lang="en-US" sz="2400" b="1" dirty="0"/>
              <a:t>cybersecurity professionals</a:t>
            </a:r>
            <a:r>
              <a:rPr lang="en-US" sz="2400" dirty="0"/>
              <a:t> in identifying identity-based attack vectors using OSINT.</a:t>
            </a:r>
          </a:p>
          <a:p>
            <a:r>
              <a:rPr lang="en-US" sz="2400" dirty="0"/>
              <a:t>Increases </a:t>
            </a:r>
            <a:r>
              <a:rPr lang="en-US" sz="2400" b="1" dirty="0"/>
              <a:t>awareness of digital footprint risks</a:t>
            </a:r>
            <a:r>
              <a:rPr lang="en-US" sz="2400" dirty="0"/>
              <a:t> and promotes safer online behavior.</a:t>
            </a:r>
          </a:p>
          <a:p>
            <a:r>
              <a:rPr lang="en-US" sz="2400" dirty="0"/>
              <a:t>Enables </a:t>
            </a:r>
            <a:r>
              <a:rPr lang="en-US" sz="2400" b="1" dirty="0"/>
              <a:t>early detection of identity reconstruction threats</a:t>
            </a:r>
            <a:r>
              <a:rPr lang="en-US" sz="2400" dirty="0"/>
              <a:t> (phishing, impersonation, account takeover).</a:t>
            </a:r>
          </a:p>
        </p:txBody>
      </p:sp>
      <p:pic>
        <p:nvPicPr>
          <p:cNvPr id="4" name="Picture 3">
            <a:extLst>
              <a:ext uri="{FF2B5EF4-FFF2-40B4-BE49-F238E27FC236}">
                <a16:creationId xmlns:a16="http://schemas.microsoft.com/office/drawing/2014/main" id="{BFC3F2BE-A09B-9BF2-1967-14B9C8636E99}"/>
              </a:ext>
            </a:extLst>
          </p:cNvPr>
          <p:cNvPicPr>
            <a:picLocks noChangeAspect="1"/>
          </p:cNvPicPr>
          <p:nvPr/>
        </p:nvPicPr>
        <p:blipFill>
          <a:blip r:embed="rId8"/>
          <a:stretch>
            <a:fillRect/>
          </a:stretch>
        </p:blipFill>
        <p:spPr>
          <a:xfrm>
            <a:off x="854350" y="2944701"/>
            <a:ext cx="8075604" cy="5818299"/>
          </a:xfrm>
          <a:prstGeom prst="rect">
            <a:avLst/>
          </a:prstGeom>
        </p:spPr>
      </p:pic>
      <p:sp>
        <p:nvSpPr>
          <p:cNvPr id="5" name="TextBox 4">
            <a:extLst>
              <a:ext uri="{FF2B5EF4-FFF2-40B4-BE49-F238E27FC236}">
                <a16:creationId xmlns:a16="http://schemas.microsoft.com/office/drawing/2014/main" id="{87C138B2-454A-A6A7-88CA-B009E658E7A3}"/>
              </a:ext>
            </a:extLst>
          </p:cNvPr>
          <p:cNvSpPr txBox="1"/>
          <p:nvPr/>
        </p:nvSpPr>
        <p:spPr>
          <a:xfrm>
            <a:off x="775513" y="2239286"/>
            <a:ext cx="3807913" cy="523220"/>
          </a:xfrm>
          <a:prstGeom prst="rect">
            <a:avLst/>
          </a:prstGeom>
          <a:noFill/>
        </p:spPr>
        <p:txBody>
          <a:bodyPr wrap="square" rtlCol="0">
            <a:spAutoFit/>
          </a:bodyPr>
          <a:lstStyle/>
          <a:p>
            <a:r>
              <a:rPr lang="en-US" sz="2800" dirty="0">
                <a:solidFill>
                  <a:srgbClr val="002060"/>
                </a:solidFill>
              </a:rPr>
              <a:t>BENEFITS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6"/>
          <p:cNvSpPr txBox="1"/>
          <p:nvPr/>
        </p:nvSpPr>
        <p:spPr>
          <a:xfrm>
            <a:off x="4054500" y="1408612"/>
            <a:ext cx="10179000" cy="800219"/>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5200" b="1" dirty="0">
                <a:solidFill>
                  <a:srgbClr val="021852"/>
                </a:solidFill>
              </a:rPr>
              <a:t>Conclusion</a:t>
            </a:r>
            <a:endParaRPr sz="5200" b="1" dirty="0"/>
          </a:p>
        </p:txBody>
      </p:sp>
      <p:grpSp>
        <p:nvGrpSpPr>
          <p:cNvPr id="161" name="Google Shape;161;p6"/>
          <p:cNvGrpSpPr/>
          <p:nvPr/>
        </p:nvGrpSpPr>
        <p:grpSpPr>
          <a:xfrm>
            <a:off x="14053573" y="6059032"/>
            <a:ext cx="4234427" cy="4234427"/>
            <a:chOff x="0" y="0"/>
            <a:chExt cx="558800" cy="558800"/>
          </a:xfrm>
        </p:grpSpPr>
        <p:sp>
          <p:nvSpPr>
            <p:cNvPr id="162" name="Google Shape;162;p6"/>
            <p:cNvSpPr/>
            <p:nvPr/>
          </p:nvSpPr>
          <p:spPr>
            <a:xfrm>
              <a:off x="0" y="0"/>
              <a:ext cx="558800" cy="558800"/>
            </a:xfrm>
            <a:custGeom>
              <a:avLst/>
              <a:gdLst/>
              <a:ahLst/>
              <a:cxnLst/>
              <a:rect l="l" t="t" r="r" b="b"/>
              <a:pathLst>
                <a:path w="558800" h="558800" extrusionOk="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0410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6"/>
            <p:cNvSpPr txBox="1"/>
            <p:nvPr/>
          </p:nvSpPr>
          <p:spPr>
            <a:xfrm>
              <a:off x="165100" y="127000"/>
              <a:ext cx="393700" cy="4318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64" name="Google Shape;164;p6"/>
          <p:cNvSpPr/>
          <p:nvPr/>
        </p:nvSpPr>
        <p:spPr>
          <a:xfrm>
            <a:off x="16470521" y="0"/>
            <a:ext cx="1817479" cy="1817471"/>
          </a:xfrm>
          <a:custGeom>
            <a:avLst/>
            <a:gdLst/>
            <a:ahLst/>
            <a:cxnLst/>
            <a:rect l="l" t="t" r="r" b="b"/>
            <a:pathLst>
              <a:path w="6350000" h="6349975" extrusionOk="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rotWithShape="1">
            <a:blip r:embed="rId3">
              <a:alphaModFix/>
            </a:blip>
            <a:stretch>
              <a:fillRect l="-121573" r="-121573"/>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 name="Google Shape;165;p6"/>
          <p:cNvGrpSpPr/>
          <p:nvPr/>
        </p:nvGrpSpPr>
        <p:grpSpPr>
          <a:xfrm>
            <a:off x="1824743" y="227833"/>
            <a:ext cx="7026374" cy="862128"/>
            <a:chOff x="0" y="0"/>
            <a:chExt cx="9368499" cy="1149503"/>
          </a:xfrm>
        </p:grpSpPr>
        <p:sp>
          <p:nvSpPr>
            <p:cNvPr id="166" name="Google Shape;166;p6"/>
            <p:cNvSpPr/>
            <p:nvPr/>
          </p:nvSpPr>
          <p:spPr>
            <a:xfrm>
              <a:off x="0" y="77633"/>
              <a:ext cx="4299406" cy="994238"/>
            </a:xfrm>
            <a:custGeom>
              <a:avLst/>
              <a:gdLst/>
              <a:ahLst/>
              <a:cxnLst/>
              <a:rect l="l" t="t" r="r" b="b"/>
              <a:pathLst>
                <a:path w="4299406" h="994238" extrusionOk="0">
                  <a:moveTo>
                    <a:pt x="0" y="0"/>
                  </a:moveTo>
                  <a:lnTo>
                    <a:pt x="4299406" y="0"/>
                  </a:lnTo>
                  <a:lnTo>
                    <a:pt x="4299406" y="994238"/>
                  </a:lnTo>
                  <a:lnTo>
                    <a:pt x="0" y="994238"/>
                  </a:lnTo>
                  <a:lnTo>
                    <a:pt x="0" y="0"/>
                  </a:lnTo>
                  <a:close/>
                </a:path>
              </a:pathLst>
            </a:custGeom>
            <a:blipFill rotWithShape="1">
              <a:blip r:embed="rId4">
                <a:alphaModFix/>
              </a:blip>
              <a:stretch>
                <a:fillRect/>
              </a:stretch>
            </a:blipFill>
            <a:ln>
              <a:noFill/>
            </a:ln>
          </p:spPr>
        </p:sp>
        <p:sp>
          <p:nvSpPr>
            <p:cNvPr id="167" name="Google Shape;167;p6"/>
            <p:cNvSpPr/>
            <p:nvPr/>
          </p:nvSpPr>
          <p:spPr>
            <a:xfrm>
              <a:off x="4708205" y="61730"/>
              <a:ext cx="3101992" cy="1026044"/>
            </a:xfrm>
            <a:custGeom>
              <a:avLst/>
              <a:gdLst/>
              <a:ahLst/>
              <a:cxnLst/>
              <a:rect l="l" t="t" r="r" b="b"/>
              <a:pathLst>
                <a:path w="3101992" h="1026044" extrusionOk="0">
                  <a:moveTo>
                    <a:pt x="0" y="0"/>
                  </a:moveTo>
                  <a:lnTo>
                    <a:pt x="3101992" y="0"/>
                  </a:lnTo>
                  <a:lnTo>
                    <a:pt x="3101992" y="1026043"/>
                  </a:lnTo>
                  <a:lnTo>
                    <a:pt x="0" y="1026043"/>
                  </a:lnTo>
                  <a:lnTo>
                    <a:pt x="0" y="0"/>
                  </a:lnTo>
                  <a:close/>
                </a:path>
              </a:pathLst>
            </a:custGeom>
            <a:blipFill rotWithShape="1">
              <a:blip r:embed="rId5">
                <a:alphaModFix/>
              </a:blip>
              <a:stretch>
                <a:fillRect/>
              </a:stretch>
            </a:blipFill>
            <a:ln>
              <a:noFill/>
            </a:ln>
          </p:spPr>
        </p:sp>
        <p:sp>
          <p:nvSpPr>
            <p:cNvPr id="168" name="Google Shape;168;p6"/>
            <p:cNvSpPr/>
            <p:nvPr/>
          </p:nvSpPr>
          <p:spPr>
            <a:xfrm>
              <a:off x="8218996" y="0"/>
              <a:ext cx="1149503" cy="1149503"/>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6">
                <a:alphaModFix/>
              </a:blip>
              <a:stretch>
                <a:fillRect l="-52507" t="-17416" r="-56069" b="-38813"/>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69" name="Google Shape;169;p6"/>
          <p:cNvPicPr preferRelativeResize="0"/>
          <p:nvPr/>
        </p:nvPicPr>
        <p:blipFill>
          <a:blip r:embed="rId7">
            <a:alphaModFix/>
          </a:blip>
          <a:stretch>
            <a:fillRect/>
          </a:stretch>
        </p:blipFill>
        <p:spPr>
          <a:xfrm>
            <a:off x="104625" y="-90838"/>
            <a:ext cx="1499450" cy="1499450"/>
          </a:xfrm>
          <a:prstGeom prst="rect">
            <a:avLst/>
          </a:prstGeom>
          <a:noFill/>
          <a:ln>
            <a:noFill/>
          </a:ln>
        </p:spPr>
      </p:pic>
      <p:sp>
        <p:nvSpPr>
          <p:cNvPr id="2" name="TextBox 1">
            <a:extLst>
              <a:ext uri="{FF2B5EF4-FFF2-40B4-BE49-F238E27FC236}">
                <a16:creationId xmlns:a16="http://schemas.microsoft.com/office/drawing/2014/main" id="{7E64B370-2777-6A0A-CE19-8703FADE08F7}"/>
              </a:ext>
            </a:extLst>
          </p:cNvPr>
          <p:cNvSpPr txBox="1"/>
          <p:nvPr/>
        </p:nvSpPr>
        <p:spPr>
          <a:xfrm>
            <a:off x="2844223" y="2585706"/>
            <a:ext cx="12599554" cy="4493538"/>
          </a:xfrm>
          <a:prstGeom prst="rect">
            <a:avLst/>
          </a:prstGeom>
          <a:noFill/>
        </p:spPr>
        <p:txBody>
          <a:bodyPr wrap="square" rtlCol="0">
            <a:spAutoFit/>
          </a:bodyPr>
          <a:lstStyle/>
          <a:p>
            <a:pPr marL="342900" indent="-342900" algn="just">
              <a:buFont typeface="Arial" panose="020B0604020202020204" pitchFamily="34" charset="0"/>
              <a:buChar char="•"/>
            </a:pPr>
            <a:r>
              <a:rPr lang="en-US" sz="2200" dirty="0"/>
              <a:t>The Digital Shadow Mapper provides an innovative approach to understanding and managing personal digital exposure by identifying fragmented identity information available across public online platforms. By leveraging OSINT techniques, identity correlation, and risk scoring, the system helps users visualize their digital footprint and understand potential security risks.</a:t>
            </a:r>
          </a:p>
          <a:p>
            <a:pPr marL="342900" indent="-342900" algn="just">
              <a:buFont typeface="Arial" panose="020B0604020202020204" pitchFamily="34" charset="0"/>
              <a:buChar char="•"/>
            </a:pPr>
            <a:endParaRPr lang="en-US" sz="2200" dirty="0"/>
          </a:p>
          <a:p>
            <a:pPr marL="342900" indent="-342900" algn="just">
              <a:buFont typeface="Arial" panose="020B0604020202020204" pitchFamily="34" charset="0"/>
              <a:buChar char="•"/>
            </a:pPr>
            <a:r>
              <a:rPr lang="en-US" sz="2200" dirty="0"/>
              <a:t>The solution promotes cybersecurity awareness and proactive privacy protection by enabling users to detect vulnerabilities in their online presence before they can be exploited by malicious actors. With its scalable architecture and practical implementation, the platform demonstrates how data aggregation, analysis, and visualization can be used to enhance digital safety in an increasingly connected world.</a:t>
            </a:r>
          </a:p>
          <a:p>
            <a:pPr marL="342900" indent="-342900" algn="just">
              <a:buFont typeface="Arial" panose="020B0604020202020204" pitchFamily="34" charset="0"/>
              <a:buChar char="•"/>
            </a:pPr>
            <a:endParaRPr lang="en-US" sz="2200" dirty="0"/>
          </a:p>
          <a:p>
            <a:pPr marL="342900" indent="-342900" algn="just">
              <a:buFont typeface="Arial" panose="020B0604020202020204" pitchFamily="34" charset="0"/>
              <a:buChar char="•"/>
            </a:pPr>
            <a:r>
              <a:rPr lang="en-US" sz="2200" dirty="0"/>
              <a:t>Overall, this project highlights the importance of digital identity management and contributes toward building a more secure and privacy-aware online ecosystem.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5" name="Google Shape;175;g3cbf6d6e0ab_0_0"/>
          <p:cNvSpPr txBox="1"/>
          <p:nvPr/>
        </p:nvSpPr>
        <p:spPr>
          <a:xfrm>
            <a:off x="4054500" y="950577"/>
            <a:ext cx="10179000" cy="960263"/>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5200" b="1" dirty="0">
                <a:solidFill>
                  <a:srgbClr val="021852"/>
                </a:solidFill>
              </a:rPr>
              <a:t>REFERENCES</a:t>
            </a:r>
            <a:endParaRPr sz="5200" b="1" dirty="0"/>
          </a:p>
        </p:txBody>
      </p:sp>
      <p:grpSp>
        <p:nvGrpSpPr>
          <p:cNvPr id="177" name="Google Shape;177;g3cbf6d6e0ab_0_0"/>
          <p:cNvGrpSpPr/>
          <p:nvPr/>
        </p:nvGrpSpPr>
        <p:grpSpPr>
          <a:xfrm>
            <a:off x="14053573" y="6059032"/>
            <a:ext cx="4234419" cy="4234419"/>
            <a:chOff x="0" y="0"/>
            <a:chExt cx="558800" cy="558800"/>
          </a:xfrm>
        </p:grpSpPr>
        <p:sp>
          <p:nvSpPr>
            <p:cNvPr id="178" name="Google Shape;178;g3cbf6d6e0ab_0_0"/>
            <p:cNvSpPr/>
            <p:nvPr/>
          </p:nvSpPr>
          <p:spPr>
            <a:xfrm>
              <a:off x="0" y="0"/>
              <a:ext cx="558800" cy="558800"/>
            </a:xfrm>
            <a:custGeom>
              <a:avLst/>
              <a:gdLst/>
              <a:ahLst/>
              <a:cxnLst/>
              <a:rect l="l" t="t" r="r" b="b"/>
              <a:pathLst>
                <a:path w="558800" h="558800" extrusionOk="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0410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g3cbf6d6e0ab_0_0"/>
            <p:cNvSpPr txBox="1"/>
            <p:nvPr/>
          </p:nvSpPr>
          <p:spPr>
            <a:xfrm>
              <a:off x="165100" y="127000"/>
              <a:ext cx="393600" cy="4317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80" name="Google Shape;180;g3cbf6d6e0ab_0_0"/>
          <p:cNvSpPr/>
          <p:nvPr/>
        </p:nvSpPr>
        <p:spPr>
          <a:xfrm>
            <a:off x="16470521" y="0"/>
            <a:ext cx="1809750" cy="1809743"/>
          </a:xfrm>
          <a:custGeom>
            <a:avLst/>
            <a:gdLst/>
            <a:ahLst/>
            <a:cxnLst/>
            <a:rect l="l" t="t" r="r" b="b"/>
            <a:pathLst>
              <a:path w="6350000" h="6349975" extrusionOk="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rotWithShape="1">
            <a:blip r:embed="rId3">
              <a:alphaModFix/>
            </a:blip>
            <a:stretch>
              <a:fillRect l="-121562" r="-121572"/>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1" name="Google Shape;181;g3cbf6d6e0ab_0_0"/>
          <p:cNvGrpSpPr/>
          <p:nvPr/>
        </p:nvGrpSpPr>
        <p:grpSpPr>
          <a:xfrm>
            <a:off x="1824743" y="227833"/>
            <a:ext cx="7026831" cy="862584"/>
            <a:chOff x="0" y="0"/>
            <a:chExt cx="9369108" cy="1150112"/>
          </a:xfrm>
        </p:grpSpPr>
        <p:sp>
          <p:nvSpPr>
            <p:cNvPr id="182" name="Google Shape;182;g3cbf6d6e0ab_0_0"/>
            <p:cNvSpPr/>
            <p:nvPr/>
          </p:nvSpPr>
          <p:spPr>
            <a:xfrm>
              <a:off x="0" y="77633"/>
              <a:ext cx="4299406" cy="994238"/>
            </a:xfrm>
            <a:custGeom>
              <a:avLst/>
              <a:gdLst/>
              <a:ahLst/>
              <a:cxnLst/>
              <a:rect l="l" t="t" r="r" b="b"/>
              <a:pathLst>
                <a:path w="4299406" h="994238" extrusionOk="0">
                  <a:moveTo>
                    <a:pt x="0" y="0"/>
                  </a:moveTo>
                  <a:lnTo>
                    <a:pt x="4299406" y="0"/>
                  </a:lnTo>
                  <a:lnTo>
                    <a:pt x="4299406" y="994238"/>
                  </a:lnTo>
                  <a:lnTo>
                    <a:pt x="0" y="994238"/>
                  </a:lnTo>
                  <a:lnTo>
                    <a:pt x="0" y="0"/>
                  </a:lnTo>
                  <a:close/>
                </a:path>
              </a:pathLst>
            </a:custGeom>
            <a:blipFill rotWithShape="1">
              <a:blip r:embed="rId4">
                <a:alphaModFix/>
              </a:blip>
              <a:stretch>
                <a:fillRect/>
              </a:stretch>
            </a:blipFill>
            <a:ln>
              <a:noFill/>
            </a:ln>
          </p:spPr>
        </p:sp>
        <p:sp>
          <p:nvSpPr>
            <p:cNvPr id="183" name="Google Shape;183;g3cbf6d6e0ab_0_0"/>
            <p:cNvSpPr/>
            <p:nvPr/>
          </p:nvSpPr>
          <p:spPr>
            <a:xfrm>
              <a:off x="4708205" y="61730"/>
              <a:ext cx="3101992" cy="1026044"/>
            </a:xfrm>
            <a:custGeom>
              <a:avLst/>
              <a:gdLst/>
              <a:ahLst/>
              <a:cxnLst/>
              <a:rect l="l" t="t" r="r" b="b"/>
              <a:pathLst>
                <a:path w="3101992" h="1026044" extrusionOk="0">
                  <a:moveTo>
                    <a:pt x="0" y="0"/>
                  </a:moveTo>
                  <a:lnTo>
                    <a:pt x="3101992" y="0"/>
                  </a:lnTo>
                  <a:lnTo>
                    <a:pt x="3101992" y="1026043"/>
                  </a:lnTo>
                  <a:lnTo>
                    <a:pt x="0" y="1026043"/>
                  </a:lnTo>
                  <a:lnTo>
                    <a:pt x="0" y="0"/>
                  </a:lnTo>
                  <a:close/>
                </a:path>
              </a:pathLst>
            </a:custGeom>
            <a:blipFill rotWithShape="1">
              <a:blip r:embed="rId5">
                <a:alphaModFix/>
              </a:blip>
              <a:stretch>
                <a:fillRect/>
              </a:stretch>
            </a:blipFill>
            <a:ln>
              <a:noFill/>
            </a:ln>
          </p:spPr>
        </p:sp>
        <p:sp>
          <p:nvSpPr>
            <p:cNvPr id="184" name="Google Shape;184;g3cbf6d6e0ab_0_0"/>
            <p:cNvSpPr/>
            <p:nvPr/>
          </p:nvSpPr>
          <p:spPr>
            <a:xfrm>
              <a:off x="8218996" y="0"/>
              <a:ext cx="1150112" cy="1150112"/>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6">
                <a:alphaModFix/>
              </a:blip>
              <a:stretch>
                <a:fillRect l="-52505" t="-17419" r="-56066" b="-38808"/>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85" name="Google Shape;185;g3cbf6d6e0ab_0_0"/>
          <p:cNvPicPr preferRelativeResize="0"/>
          <p:nvPr/>
        </p:nvPicPr>
        <p:blipFill>
          <a:blip r:embed="rId7">
            <a:alphaModFix/>
          </a:blip>
          <a:stretch>
            <a:fillRect/>
          </a:stretch>
        </p:blipFill>
        <p:spPr>
          <a:xfrm>
            <a:off x="104625" y="-90838"/>
            <a:ext cx="1499450" cy="1499450"/>
          </a:xfrm>
          <a:prstGeom prst="rect">
            <a:avLst/>
          </a:prstGeom>
          <a:noFill/>
          <a:ln>
            <a:noFill/>
          </a:ln>
        </p:spPr>
      </p:pic>
      <p:sp>
        <p:nvSpPr>
          <p:cNvPr id="3" name="TextBox 2">
            <a:extLst>
              <a:ext uri="{FF2B5EF4-FFF2-40B4-BE49-F238E27FC236}">
                <a16:creationId xmlns:a16="http://schemas.microsoft.com/office/drawing/2014/main" id="{851734B2-3ABD-15D0-2886-1E1A826B157A}"/>
              </a:ext>
            </a:extLst>
          </p:cNvPr>
          <p:cNvSpPr txBox="1"/>
          <p:nvPr/>
        </p:nvSpPr>
        <p:spPr>
          <a:xfrm>
            <a:off x="1381488" y="1696256"/>
            <a:ext cx="14077587" cy="7879080"/>
          </a:xfrm>
          <a:prstGeom prst="rect">
            <a:avLst/>
          </a:prstGeom>
          <a:noFill/>
        </p:spPr>
        <p:txBody>
          <a:bodyPr wrap="square" rtlCol="0">
            <a:spAutoFit/>
          </a:bodyPr>
          <a:lstStyle/>
          <a:p>
            <a:r>
              <a:rPr lang="en-US" sz="2200" b="1" dirty="0"/>
              <a:t>APIs &amp; Data Sources</a:t>
            </a:r>
          </a:p>
          <a:p>
            <a:r>
              <a:rPr lang="en-US" sz="2200" dirty="0" err="1"/>
              <a:t>PublicAPI.dev</a:t>
            </a:r>
            <a:r>
              <a:rPr lang="en-US" sz="2200" dirty="0"/>
              <a:t> – </a:t>
            </a:r>
            <a:r>
              <a:rPr lang="en-US" sz="2200" dirty="0">
                <a:hlinkClick r:id="rId8"/>
              </a:rPr>
              <a:t>https://publicapi.dev/have-i-been-pwned-api</a:t>
            </a:r>
            <a:endParaRPr lang="en-US" sz="2200" dirty="0"/>
          </a:p>
          <a:p>
            <a:endParaRPr lang="en-US" sz="2200" dirty="0"/>
          </a:p>
          <a:p>
            <a:endParaRPr lang="en-US" sz="2200" dirty="0"/>
          </a:p>
          <a:p>
            <a:endParaRPr lang="en-US" sz="2200" dirty="0"/>
          </a:p>
          <a:p>
            <a:r>
              <a:rPr lang="en-US" sz="2200" b="1" dirty="0"/>
              <a:t>OSINT Tools</a:t>
            </a:r>
          </a:p>
          <a:p>
            <a:r>
              <a:rPr lang="en-US" sz="2200" dirty="0"/>
              <a:t>Sherlock (GitHub) – </a:t>
            </a:r>
            <a:r>
              <a:rPr lang="en-US" sz="2200" dirty="0">
                <a:hlinkClick r:id="rId9"/>
              </a:rPr>
              <a:t>https://github.com/sherlock-project/sherlock</a:t>
            </a:r>
            <a:endParaRPr lang="en-US" sz="2200" dirty="0"/>
          </a:p>
          <a:p>
            <a:r>
              <a:rPr lang="en-US" sz="2200" dirty="0"/>
              <a:t>Bellingcat Toolkit Entry – </a:t>
            </a:r>
            <a:r>
              <a:rPr lang="en-US" sz="2200" dirty="0">
                <a:hlinkClick r:id="rId10"/>
              </a:rPr>
              <a:t>https://bellingcat.gitbook.io/toolkit/more/all-tools/sherlock</a:t>
            </a:r>
            <a:endParaRPr lang="en-US" sz="2200" dirty="0"/>
          </a:p>
          <a:p>
            <a:r>
              <a:rPr lang="en-US" sz="2200" dirty="0"/>
              <a:t>Sherlock OSINT Manual (2025) – </a:t>
            </a:r>
            <a:r>
              <a:rPr lang="en-US" sz="2200" dirty="0">
                <a:hlinkClick r:id="rId11"/>
              </a:rPr>
              <a:t>https://github.com/ContactAlexey/Sherlock-OSINT-Manual-2025</a:t>
            </a:r>
            <a:endParaRPr lang="en-US" sz="2200" dirty="0"/>
          </a:p>
          <a:p>
            <a:r>
              <a:rPr lang="en-US" sz="2200" dirty="0" err="1"/>
              <a:t>GoSearch</a:t>
            </a:r>
            <a:r>
              <a:rPr lang="en-US" sz="2200" dirty="0"/>
              <a:t> – </a:t>
            </a:r>
            <a:r>
              <a:rPr lang="en-US" sz="2200" dirty="0">
                <a:hlinkClick r:id="rId12"/>
              </a:rPr>
              <a:t>https://github.com/ibnaleem/gosearch</a:t>
            </a:r>
            <a:endParaRPr lang="en-US" sz="2200" dirty="0"/>
          </a:p>
          <a:p>
            <a:endParaRPr lang="en-US" sz="2200" dirty="0"/>
          </a:p>
          <a:p>
            <a:r>
              <a:rPr lang="en-US" sz="2200" b="1" dirty="0"/>
              <a:t>Visualization Tools</a:t>
            </a:r>
          </a:p>
          <a:p>
            <a:r>
              <a:rPr lang="en-US" sz="2200" dirty="0"/>
              <a:t>Cytoscape.js – </a:t>
            </a:r>
            <a:r>
              <a:rPr lang="en-US" sz="2200" dirty="0">
                <a:hlinkClick r:id="rId13"/>
              </a:rPr>
              <a:t>https://js.cytoscape.org/</a:t>
            </a:r>
            <a:endParaRPr lang="en-US" sz="2200" dirty="0"/>
          </a:p>
          <a:p>
            <a:r>
              <a:rPr lang="en-US" sz="2200" dirty="0"/>
              <a:t>GitHub Repository – </a:t>
            </a:r>
            <a:r>
              <a:rPr lang="en-US" sz="2200" dirty="0">
                <a:hlinkClick r:id="rId14"/>
              </a:rPr>
              <a:t>https://github.com/cytoscape/cytoscape.js</a:t>
            </a:r>
            <a:endParaRPr lang="en-US" sz="2200" dirty="0"/>
          </a:p>
          <a:p>
            <a:r>
              <a:rPr lang="en-US" sz="2200" dirty="0"/>
              <a:t>Tutorial – </a:t>
            </a:r>
            <a:r>
              <a:rPr lang="en-US" sz="2200" dirty="0">
                <a:hlinkClick r:id="rId15"/>
              </a:rPr>
              <a:t>https://blog.js.cytoscape.org/2016/05/24/getting-started/</a:t>
            </a:r>
            <a:endParaRPr lang="en-US" sz="2200" dirty="0"/>
          </a:p>
          <a:p>
            <a:r>
              <a:rPr lang="en-US" sz="2200" dirty="0" err="1"/>
              <a:t>npm</a:t>
            </a:r>
            <a:r>
              <a:rPr lang="en-US" sz="2200" dirty="0"/>
              <a:t> Package – </a:t>
            </a:r>
            <a:r>
              <a:rPr lang="en-US" sz="2200" dirty="0">
                <a:hlinkClick r:id="rId16"/>
              </a:rPr>
              <a:t>https://www.npmjs.com/package/cytoscape</a:t>
            </a:r>
            <a:endParaRPr lang="en-US" sz="2200" dirty="0"/>
          </a:p>
          <a:p>
            <a:endParaRPr lang="en-US" sz="2200" dirty="0"/>
          </a:p>
          <a:p>
            <a:r>
              <a:rPr lang="en-US" sz="2200" b="1" dirty="0"/>
              <a:t>OSINT Research &amp; Methodology</a:t>
            </a:r>
          </a:p>
          <a:p>
            <a:r>
              <a:rPr lang="en-US" sz="2200" dirty="0"/>
              <a:t>Awesome OSINT List – </a:t>
            </a:r>
            <a:r>
              <a:rPr lang="en-US" sz="2200" dirty="0">
                <a:hlinkClick r:id="rId17"/>
              </a:rPr>
              <a:t>https://github.com/jivoi/awesome-osint</a:t>
            </a:r>
            <a:endParaRPr lang="en-US" sz="2200" dirty="0"/>
          </a:p>
          <a:p>
            <a:r>
              <a:rPr lang="en-US" sz="2200" dirty="0"/>
              <a:t>APIs for OSINT – </a:t>
            </a:r>
            <a:r>
              <a:rPr lang="en-US" sz="2200" dirty="0">
                <a:hlinkClick r:id="rId18"/>
              </a:rPr>
              <a:t>https://github.com/cipher387/API-s-for-OSINT</a:t>
            </a:r>
            <a:endParaRPr lang="en-US" sz="2200" dirty="0"/>
          </a:p>
          <a:p>
            <a:r>
              <a:rPr lang="en-US" sz="2200" dirty="0"/>
              <a:t>Digital Footprint OSINT Tool – </a:t>
            </a:r>
            <a:r>
              <a:rPr lang="en-US" sz="2200" dirty="0">
                <a:hlinkClick r:id="rId19"/>
              </a:rPr>
              <a:t>https://github.com/Hamed233/Digital-Footprint-OSINT-Tool</a:t>
            </a:r>
            <a:endParaRPr lang="en-US" sz="2200" dirty="0"/>
          </a:p>
          <a:p>
            <a:r>
              <a:rPr lang="en-US" sz="2200" dirty="0"/>
              <a:t>GitHub OSINT Methodology Guide – </a:t>
            </a:r>
            <a:r>
              <a:rPr lang="en-US" sz="2200" dirty="0">
                <a:hlinkClick r:id="rId20"/>
              </a:rPr>
              <a:t>https://preciousvincentct.medium.com/github-osint-the-ultimate-reconnaissance-methodology-guide-e896ff162f63</a:t>
            </a:r>
            <a:endParaRPr lang="en-US" sz="2200" dirty="0"/>
          </a:p>
        </p:txBody>
      </p:sp>
      <p:sp>
        <p:nvSpPr>
          <p:cNvPr id="2" name="Rectangle 1">
            <a:extLst>
              <a:ext uri="{FF2B5EF4-FFF2-40B4-BE49-F238E27FC236}">
                <a16:creationId xmlns:a16="http://schemas.microsoft.com/office/drawing/2014/main" id="{0FD0E550-73A8-60CD-3501-C7AAE99849A6}"/>
              </a:ext>
            </a:extLst>
          </p:cNvPr>
          <p:cNvSpPr>
            <a:spLocks noChangeArrowheads="1"/>
          </p:cNvSpPr>
          <p:nvPr/>
        </p:nvSpPr>
        <p:spPr bwMode="auto">
          <a:xfrm>
            <a:off x="1381488" y="2395071"/>
            <a:ext cx="9188245"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err="1">
                <a:ln>
                  <a:noFill/>
                </a:ln>
                <a:solidFill>
                  <a:schemeClr val="tx1"/>
                </a:solidFill>
                <a:effectLst/>
                <a:latin typeface="Arial" panose="020B0604020202020204" pitchFamily="34" charset="0"/>
              </a:rPr>
              <a:t>XposedOrNot</a:t>
            </a:r>
            <a:r>
              <a:rPr kumimoji="0" lang="en-US" altLang="en-US" sz="2200" b="0" i="0" u="none" strike="noStrike" cap="none" normalizeH="0" baseline="0" dirty="0">
                <a:ln>
                  <a:noFill/>
                </a:ln>
                <a:solidFill>
                  <a:schemeClr val="tx1"/>
                </a:solidFill>
                <a:effectLst/>
                <a:latin typeface="Arial" panose="020B0604020202020204" pitchFamily="34" charset="0"/>
              </a:rPr>
              <a:t> API – https://api.xposedornot.com </a:t>
            </a:r>
          </a:p>
          <a:p>
            <a:pPr marL="0" marR="0" lvl="0" indent="0" algn="l"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err="1">
                <a:ln>
                  <a:noFill/>
                </a:ln>
                <a:solidFill>
                  <a:schemeClr val="tx1"/>
                </a:solidFill>
                <a:effectLst/>
                <a:latin typeface="Arial" panose="020B0604020202020204" pitchFamily="34" charset="0"/>
              </a:rPr>
              <a:t>XposedOrNot</a:t>
            </a:r>
            <a:r>
              <a:rPr kumimoji="0" lang="en-US" altLang="en-US" sz="2200" b="0" i="0" u="none" strike="noStrike" cap="none" normalizeH="0" baseline="0" dirty="0">
                <a:ln>
                  <a:noFill/>
                </a:ln>
                <a:solidFill>
                  <a:schemeClr val="tx1"/>
                </a:solidFill>
                <a:effectLst/>
                <a:latin typeface="Arial" panose="020B0604020202020204" pitchFamily="34" charset="0"/>
              </a:rPr>
              <a:t> Official Website – </a:t>
            </a:r>
            <a:r>
              <a:rPr kumimoji="0" lang="en-US" altLang="en-US" sz="2200" b="0" i="0" u="none" strike="noStrike" cap="none" normalizeH="0" baseline="0" dirty="0">
                <a:ln>
                  <a:noFill/>
                </a:ln>
                <a:solidFill>
                  <a:schemeClr val="tx1"/>
                </a:solidFill>
                <a:effectLst/>
                <a:latin typeface="Arial" panose="020B0604020202020204" pitchFamily="34" charset="0"/>
                <a:hlinkClick r:id="rId21"/>
              </a:rPr>
              <a:t>https://xposedornot.com</a:t>
            </a:r>
            <a:r>
              <a:rPr kumimoji="0" lang="en-US" altLang="en-US" sz="22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363</TotalTime>
  <Words>770</Words>
  <Application>Microsoft Office PowerPoint</Application>
  <PresentationFormat>Custom</PresentationFormat>
  <Paragraphs>94</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Tanushree</dc:creator>
  <cp:lastModifiedBy>Khushi Tiwari</cp:lastModifiedBy>
  <cp:revision>6</cp:revision>
  <dcterms:created xsi:type="dcterms:W3CDTF">2006-08-16T00:00:00Z</dcterms:created>
  <dcterms:modified xsi:type="dcterms:W3CDTF">2026-03-28T08:37:44Z</dcterms:modified>
</cp:coreProperties>
</file>